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775AD-1759-5D4E-5882-936BD5532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FF94B-6185-3D40-737E-C6692AA54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B6112-3326-DA36-D8BE-4B8D9C414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428D-8773-4DCC-B933-D950E6AFD499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9D588-1E31-136D-BE08-FDDFFDD37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A27EC-BDE5-23DB-576D-932B8D948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833E0-334C-4615-93E0-D5D4571CA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058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EE57-74FF-D4F3-ED78-0F378C905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376AD-4A74-941E-BBAC-4611372F7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32C9F-BDBA-710C-0D2E-A0DAEFB33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428D-8773-4DCC-B933-D950E6AFD499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80671-645F-4C40-E5BF-08E517DD2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CB3C0-C646-B8C6-50D5-2063A787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833E0-334C-4615-93E0-D5D4571CA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422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837FC-3F43-A492-E3F8-296219212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460F3-F08D-3467-0E33-08E048588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7739C-9298-3E49-C59D-CFFE30770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428D-8773-4DCC-B933-D950E6AFD499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6C80D-D904-BCE8-C820-CF691558F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70C6E-7812-7C00-6362-BCDF9EF5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833E0-334C-4615-93E0-D5D4571CA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81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9B219-090E-FC4F-D929-61093C8FE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F7299-C425-7C01-8305-03D2A747E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4DC2F-E53B-6E9C-8EB7-EC1C15D90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A8F8D-241A-8F25-0B8B-005AD102C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428D-8773-4DCC-B933-D950E6AFD499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D2EA1-60EE-E83B-936C-DBC5A3480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08D7A-DD89-2AD4-7899-F86F6CA9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833E0-334C-4615-93E0-D5D4571CA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235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14851-7683-DCF5-D536-1ED114A7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E295F-857E-DACA-56DD-9C8C8E32F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AAB2F-B251-74B5-BD1C-3BCD50CEB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573172-36A7-6105-CDB3-EC4DCFBA2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D5899D-BBAD-73DB-C467-00B95EAD7C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A7B8DF-36BF-7ECA-6467-CE622068E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428D-8773-4DCC-B933-D950E6AFD499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201DD-22CF-5BC5-282B-3CE55A97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21716F-4B2A-D4DA-2B3B-67C07935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833E0-334C-4615-93E0-D5D4571CA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101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8E0B-D673-DC7A-0EA1-874A189AF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E6F10-5CF4-D565-A392-40F95590B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428D-8773-4DCC-B933-D950E6AFD499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63ED2-D602-DADA-A544-2AB353F86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4BC576-CCB3-C766-6405-04D5D492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833E0-334C-4615-93E0-D5D4571CA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166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2123E-DA8B-190E-10CA-9FDB51AF1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428D-8773-4DCC-B933-D950E6AFD499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A5A7A6-342A-2925-5A98-21F1210E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4471E-593B-A71C-0284-7CCB07F3C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833E0-334C-4615-93E0-D5D4571CA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270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16743-8D3A-71C8-6735-1CA6D6A13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150FE-DE26-F1A3-26F9-73E9272AF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8F3A10-80CA-6230-58AF-7D1266C2C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F7158-F857-4D79-08E8-0E777BECB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428D-8773-4DCC-B933-D950E6AFD499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A5D34-A818-8625-6111-E90CA2BEC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5F6DC-B085-6230-7623-A19F2BF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833E0-334C-4615-93E0-D5D4571CA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623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3D22A-BC80-0596-BB79-C40F278B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6F964D-0568-E74D-535A-2A473C9D2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B87688-1A55-0AD1-DCA8-A54A15BF9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7C468-BF62-C599-7C91-B6B5425D2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428D-8773-4DCC-B933-D950E6AFD499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97AE5-C210-66A3-01D4-60004419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B4178-A02E-8101-5F44-2E372A5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833E0-334C-4615-93E0-D5D4571CA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332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30C81-6BEB-377D-7BE3-507663D5B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2C51C3-6F1A-3495-864C-5F52BF90F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2E2E9-5583-1888-BBE4-E18A2FE5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428D-8773-4DCC-B933-D950E6AFD499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ECB4A-7E60-A726-E219-50AABCC7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DBC4D-02B0-7F2E-D69A-6976E9CA6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833E0-334C-4615-93E0-D5D4571CA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16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0059FE-9490-3CBD-7532-C8A67794C0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D3EF5-00CA-2B52-E8AD-0978DC2F2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81589-176D-55E5-AD01-3CE17C41B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428D-8773-4DCC-B933-D950E6AFD499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D1650-0FEC-8159-77E1-96C8F427B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A6054-E590-D3CB-530B-BDD18F0E3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833E0-334C-4615-93E0-D5D4571CA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298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FBD4D4-FD33-B36C-458F-2FB658EAF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A9175-FFA4-A876-F5F2-6DD8AAD54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677E9-2C56-6964-0B93-77D4F88E4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71428D-8773-4DCC-B933-D950E6AFD499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E230C-AF2F-A04D-F11A-D42329CF5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DAA3F-89F0-0149-CE83-D3FAC439C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C833E0-334C-4615-93E0-D5D4571CA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22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DEEDD3-E08A-2EA9-F159-F0CCC84A2F29}"/>
              </a:ext>
            </a:extLst>
          </p:cNvPr>
          <p:cNvSpPr/>
          <p:nvPr/>
        </p:nvSpPr>
        <p:spPr>
          <a:xfrm>
            <a:off x="0" y="0"/>
            <a:ext cx="139700" cy="68580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7DA1C5B-981F-A8B7-9DC3-C9721B5F9940}"/>
              </a:ext>
            </a:extLst>
          </p:cNvPr>
          <p:cNvSpPr/>
          <p:nvPr/>
        </p:nvSpPr>
        <p:spPr>
          <a:xfrm>
            <a:off x="9144000" y="-1143000"/>
            <a:ext cx="3810000" cy="38100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8F495B-994F-1057-8045-7785B46900CE}"/>
              </a:ext>
            </a:extLst>
          </p:cNvPr>
          <p:cNvSpPr/>
          <p:nvPr/>
        </p:nvSpPr>
        <p:spPr>
          <a:xfrm>
            <a:off x="9969500" y="190500"/>
            <a:ext cx="2667000" cy="2667000"/>
          </a:xfrm>
          <a:prstGeom prst="ellipse">
            <a:avLst/>
          </a:prstGeom>
          <a:solidFill>
            <a:srgbClr val="122B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3EEAC6F-9BD2-1D49-C980-5C7EFAF11C66}"/>
              </a:ext>
            </a:extLst>
          </p:cNvPr>
          <p:cNvSpPr/>
          <p:nvPr/>
        </p:nvSpPr>
        <p:spPr>
          <a:xfrm>
            <a:off x="10604500" y="889000"/>
            <a:ext cx="1397000" cy="1397000"/>
          </a:xfrm>
          <a:prstGeom prst="ellipse">
            <a:avLst/>
          </a:prstGeom>
          <a:solidFill>
            <a:srgbClr val="30C6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2F3A7E-CF45-AC9F-E3EE-743AE77A27B3}"/>
              </a:ext>
            </a:extLst>
          </p:cNvPr>
          <p:cNvSpPr txBox="1"/>
          <p:nvPr/>
        </p:nvSpPr>
        <p:spPr>
          <a:xfrm>
            <a:off x="838200" y="884366"/>
            <a:ext cx="3429000" cy="184666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1200" b="1">
                <a:solidFill>
                  <a:srgbClr val="30C6EE"/>
                </a:solidFill>
                <a:latin typeface="Aptos" panose="020B0004020202020204" pitchFamily="34" charset="0"/>
              </a:rPr>
              <a:t>AZURE PAAS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F1C2F-2706-1294-5711-D249D5FAFD26}"/>
              </a:ext>
            </a:extLst>
          </p:cNvPr>
          <p:cNvSpPr txBox="1"/>
          <p:nvPr/>
        </p:nvSpPr>
        <p:spPr>
          <a:xfrm>
            <a:off x="838200" y="1620966"/>
            <a:ext cx="7874000" cy="83099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5400" b="1">
                <a:solidFill>
                  <a:srgbClr val="FFFFFF"/>
                </a:solidFill>
                <a:latin typeface="Aptos Display" panose="020B0004020202020204" pitchFamily="34" charset="0"/>
              </a:rPr>
              <a:t>KubeCart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72E10A-CA4A-11D1-F81E-CA0EA76AE542}"/>
              </a:ext>
            </a:extLst>
          </p:cNvPr>
          <p:cNvSpPr txBox="1"/>
          <p:nvPr/>
        </p:nvSpPr>
        <p:spPr>
          <a:xfrm>
            <a:off x="876300" y="2984500"/>
            <a:ext cx="8001000" cy="3693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IN" sz="2400">
                <a:solidFill>
                  <a:srgbClr val="F5F9FC"/>
                </a:solidFill>
                <a:latin typeface="Aptos Display" panose="020B0004020202020204" pitchFamily="34" charset="0"/>
              </a:rPr>
              <a:t>Secure E-Commerce Platform on Microsoft Azure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6B5EEF-2909-2225-132C-FF39B519ED28}"/>
              </a:ext>
            </a:extLst>
          </p:cNvPr>
          <p:cNvSpPr/>
          <p:nvPr/>
        </p:nvSpPr>
        <p:spPr>
          <a:xfrm>
            <a:off x="876300" y="4064000"/>
            <a:ext cx="1041400" cy="508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211F2-62B0-F364-142F-441D814A57D8}"/>
              </a:ext>
            </a:extLst>
          </p:cNvPr>
          <p:cNvSpPr txBox="1"/>
          <p:nvPr/>
        </p:nvSpPr>
        <p:spPr>
          <a:xfrm>
            <a:off x="876300" y="4394200"/>
            <a:ext cx="7493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600">
                <a:solidFill>
                  <a:srgbClr val="94A3B8"/>
                </a:solidFill>
                <a:latin typeface="Aptos" panose="020B0004020202020204" pitchFamily="34" charset="0"/>
              </a:rPr>
              <a:t>A monolithic Node.js and React application built with managed Azure platform services.</a:t>
            </a:r>
            <a:endParaRPr lang="en-IN" sz="1600">
              <a:solidFill>
                <a:srgbClr val="94A3B8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5D98FA-2E89-09AF-CA63-4B49753881C9}"/>
              </a:ext>
            </a:extLst>
          </p:cNvPr>
          <p:cNvSpPr/>
          <p:nvPr/>
        </p:nvSpPr>
        <p:spPr>
          <a:xfrm>
            <a:off x="876300" y="5740400"/>
            <a:ext cx="2857500" cy="431800"/>
          </a:xfrm>
          <a:prstGeom prst="roundRect">
            <a:avLst/>
          </a:prstGeom>
          <a:solidFill>
            <a:srgbClr val="122B46"/>
          </a:solidFill>
          <a:ln w="12700">
            <a:solidFill>
              <a:srgbClr val="334E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93CA81-8088-F563-DC7A-B20A53AB0EF5}"/>
              </a:ext>
            </a:extLst>
          </p:cNvPr>
          <p:cNvSpPr txBox="1"/>
          <p:nvPr/>
        </p:nvSpPr>
        <p:spPr>
          <a:xfrm>
            <a:off x="1092200" y="5786566"/>
            <a:ext cx="24257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PROJECT PRESENTATION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2B9D8F-462F-6142-E31C-E22E8535AEF9}"/>
              </a:ext>
            </a:extLst>
          </p:cNvPr>
          <p:cNvSpPr txBox="1"/>
          <p:nvPr/>
        </p:nvSpPr>
        <p:spPr>
          <a:xfrm>
            <a:off x="11328400" y="6459666"/>
            <a:ext cx="4318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IN" sz="900" b="1">
                <a:solidFill>
                  <a:srgbClr val="94A3B8"/>
                </a:solidFill>
                <a:latin typeface="Aptos" panose="020B00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94103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267241-CFC9-1EC8-DDD8-7E8B76B24C13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D35D5D-B9A6-FB4B-D365-C223681D28DC}"/>
              </a:ext>
            </a:extLst>
          </p:cNvPr>
          <p:cNvSpPr txBox="1"/>
          <p:nvPr/>
        </p:nvSpPr>
        <p:spPr>
          <a:xfrm>
            <a:off x="609600" y="350966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1000" b="1">
                <a:solidFill>
                  <a:srgbClr val="0078D4"/>
                </a:solidFill>
                <a:latin typeface="Aptos" panose="020B0004020202020204" pitchFamily="34" charset="0"/>
              </a:rPr>
              <a:t>TECHNOLOGY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EA0CAC-7B8A-5865-6A14-7D52CA004119}"/>
              </a:ext>
            </a:extLst>
          </p:cNvPr>
          <p:cNvSpPr txBox="1"/>
          <p:nvPr/>
        </p:nvSpPr>
        <p:spPr>
          <a:xfrm>
            <a:off x="609600" y="744666"/>
            <a:ext cx="8636000" cy="46166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3000" b="1">
                <a:solidFill>
                  <a:srgbClr val="0A1A2F"/>
                </a:solidFill>
                <a:latin typeface="Aptos Display" panose="020B0004020202020204" pitchFamily="34" charset="0"/>
              </a:rPr>
              <a:t>Azure PaaS Services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05DE6B-6CB9-4435-FE02-D941B0858F5B}"/>
              </a:ext>
            </a:extLst>
          </p:cNvPr>
          <p:cNvSpPr txBox="1"/>
          <p:nvPr/>
        </p:nvSpPr>
        <p:spPr>
          <a:xfrm>
            <a:off x="609600" y="1341566"/>
            <a:ext cx="9144000" cy="20005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sz="1300">
                <a:solidFill>
                  <a:srgbClr val="435567"/>
                </a:solidFill>
                <a:latin typeface="Aptos" panose="020B0004020202020204" pitchFamily="34" charset="0"/>
              </a:rPr>
              <a:t>Managed services keep KubeCart scalable, secure, and easier to operate.</a:t>
            </a:r>
            <a:endParaRPr lang="en-IN" sz="1300">
              <a:solidFill>
                <a:srgbClr val="43556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F4A075-3699-5FF1-F949-9426DB43CC18}"/>
              </a:ext>
            </a:extLst>
          </p:cNvPr>
          <p:cNvSpPr/>
          <p:nvPr/>
        </p:nvSpPr>
        <p:spPr>
          <a:xfrm>
            <a:off x="609600" y="1981200"/>
            <a:ext cx="25654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63500" dist="38100" dir="5400000" rotWithShape="0">
              <a:srgbClr val="0F172A">
                <a:alpha val="1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C23F3A-D409-6E62-4427-4AF08D9768C8}"/>
              </a:ext>
            </a:extLst>
          </p:cNvPr>
          <p:cNvSpPr/>
          <p:nvPr/>
        </p:nvSpPr>
        <p:spPr>
          <a:xfrm>
            <a:off x="609600" y="1981200"/>
            <a:ext cx="2565400" cy="889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0ABB82F-A309-DCED-C757-9C19C2DA1BC7}"/>
              </a:ext>
            </a:extLst>
          </p:cNvPr>
          <p:cNvSpPr/>
          <p:nvPr/>
        </p:nvSpPr>
        <p:spPr>
          <a:xfrm>
            <a:off x="863600" y="2286000"/>
            <a:ext cx="685800" cy="6858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3DE499-0B23-BC3A-802B-BC0B98318095}"/>
              </a:ext>
            </a:extLst>
          </p:cNvPr>
          <p:cNvSpPr txBox="1"/>
          <p:nvPr/>
        </p:nvSpPr>
        <p:spPr>
          <a:xfrm>
            <a:off x="863600" y="2332166"/>
            <a:ext cx="685800" cy="26161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700" b="1">
                <a:solidFill>
                  <a:srgbClr val="FFFFFF"/>
                </a:solidFill>
                <a:latin typeface="Aptos Display" panose="020B0004020202020204" pitchFamily="34" charset="0"/>
              </a:rPr>
              <a:t>AS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AF2C3A-E9BF-82B7-E3BD-5706CDD8D696}"/>
              </a:ext>
            </a:extLst>
          </p:cNvPr>
          <p:cNvSpPr txBox="1"/>
          <p:nvPr/>
        </p:nvSpPr>
        <p:spPr>
          <a:xfrm>
            <a:off x="863600" y="3175000"/>
            <a:ext cx="20574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IN" b="1">
                <a:solidFill>
                  <a:srgbClr val="0A1A2F"/>
                </a:solidFill>
                <a:latin typeface="Aptos Display" panose="020B0004020202020204" pitchFamily="34" charset="0"/>
              </a:rPr>
              <a:t>Azure App Service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C45976-0AE7-722D-6DDF-0448DD9F981A}"/>
              </a:ext>
            </a:extLst>
          </p:cNvPr>
          <p:cNvSpPr txBox="1"/>
          <p:nvPr/>
        </p:nvSpPr>
        <p:spPr>
          <a:xfrm>
            <a:off x="863600" y="3987800"/>
            <a:ext cx="2057400" cy="50783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100">
                <a:solidFill>
                  <a:srgbClr val="435567"/>
                </a:solidFill>
                <a:latin typeface="Aptos" panose="020B0004020202020204" pitchFamily="34" charset="0"/>
              </a:rPr>
              <a:t>Hosts the Node.js API and serves the React frontend as one managed web application.</a:t>
            </a:r>
            <a:endParaRPr lang="en-IN" sz="1100">
              <a:solidFill>
                <a:srgbClr val="435567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0EEC84-CADF-8898-99F9-62F4FEF4AD0B}"/>
              </a:ext>
            </a:extLst>
          </p:cNvPr>
          <p:cNvSpPr txBox="1"/>
          <p:nvPr/>
        </p:nvSpPr>
        <p:spPr>
          <a:xfrm>
            <a:off x="863600" y="5151566"/>
            <a:ext cx="20574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800" b="1">
                <a:solidFill>
                  <a:srgbClr val="0078D4"/>
                </a:solidFill>
                <a:latin typeface="Aptos" panose="020B0004020202020204" pitchFamily="34" charset="0"/>
              </a:rPr>
              <a:t>AZURE PAAS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DFB27C-9751-CD71-BC1B-122CA32DD474}"/>
              </a:ext>
            </a:extLst>
          </p:cNvPr>
          <p:cNvSpPr/>
          <p:nvPr/>
        </p:nvSpPr>
        <p:spPr>
          <a:xfrm>
            <a:off x="3429000" y="1981200"/>
            <a:ext cx="25654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63500" dist="38100" dir="5400000" rotWithShape="0">
              <a:srgbClr val="0F172A">
                <a:alpha val="1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0A0E3D-77FF-48D2-C1F3-04CE9E283E24}"/>
              </a:ext>
            </a:extLst>
          </p:cNvPr>
          <p:cNvSpPr/>
          <p:nvPr/>
        </p:nvSpPr>
        <p:spPr>
          <a:xfrm>
            <a:off x="3429000" y="1981200"/>
            <a:ext cx="2565400" cy="889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1E70D6-8157-9ADC-8E72-1D969CC7CE21}"/>
              </a:ext>
            </a:extLst>
          </p:cNvPr>
          <p:cNvSpPr/>
          <p:nvPr/>
        </p:nvSpPr>
        <p:spPr>
          <a:xfrm>
            <a:off x="3683000" y="2286000"/>
            <a:ext cx="685800" cy="685800"/>
          </a:xfrm>
          <a:prstGeom prst="ellipse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E3B2FC-B10E-A875-EE85-226DE6B1B6AE}"/>
              </a:ext>
            </a:extLst>
          </p:cNvPr>
          <p:cNvSpPr txBox="1"/>
          <p:nvPr/>
        </p:nvSpPr>
        <p:spPr>
          <a:xfrm>
            <a:off x="3683000" y="2332166"/>
            <a:ext cx="685800" cy="26161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700" b="1">
                <a:solidFill>
                  <a:srgbClr val="FFFFFF"/>
                </a:solidFill>
                <a:latin typeface="Aptos Display" panose="020B0004020202020204" pitchFamily="34" charset="0"/>
              </a:rPr>
              <a:t>KV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095815-D89F-598A-D694-0FDBA826168D}"/>
              </a:ext>
            </a:extLst>
          </p:cNvPr>
          <p:cNvSpPr txBox="1"/>
          <p:nvPr/>
        </p:nvSpPr>
        <p:spPr>
          <a:xfrm>
            <a:off x="3683000" y="3175000"/>
            <a:ext cx="20574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IN" b="1">
                <a:solidFill>
                  <a:srgbClr val="0A1A2F"/>
                </a:solidFill>
                <a:latin typeface="Aptos Display" panose="020B0004020202020204" pitchFamily="34" charset="0"/>
              </a:rPr>
              <a:t>Azure Key Vault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EBA907-E4C0-9BE6-184F-D07B48B5B9CE}"/>
              </a:ext>
            </a:extLst>
          </p:cNvPr>
          <p:cNvSpPr txBox="1"/>
          <p:nvPr/>
        </p:nvSpPr>
        <p:spPr>
          <a:xfrm>
            <a:off x="3683000" y="3987800"/>
            <a:ext cx="2057400" cy="50783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100">
                <a:solidFill>
                  <a:srgbClr val="435567"/>
                </a:solidFill>
                <a:latin typeface="Aptos" panose="020B0004020202020204" pitchFamily="34" charset="0"/>
              </a:rPr>
              <a:t>Protects connection strings, credentials, and application secrets outside the codebase.</a:t>
            </a:r>
            <a:endParaRPr lang="en-IN" sz="1100">
              <a:solidFill>
                <a:srgbClr val="435567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638A2D-518E-CC08-FF06-BA95950B84F3}"/>
              </a:ext>
            </a:extLst>
          </p:cNvPr>
          <p:cNvSpPr txBox="1"/>
          <p:nvPr/>
        </p:nvSpPr>
        <p:spPr>
          <a:xfrm>
            <a:off x="3683000" y="5151566"/>
            <a:ext cx="20574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800" b="1">
                <a:solidFill>
                  <a:srgbClr val="7C3AED"/>
                </a:solidFill>
                <a:latin typeface="Aptos" panose="020B0004020202020204" pitchFamily="34" charset="0"/>
              </a:rPr>
              <a:t>AZURE PAAS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01535B0-D9D8-F591-B5DF-6054BBABDEF7}"/>
              </a:ext>
            </a:extLst>
          </p:cNvPr>
          <p:cNvSpPr/>
          <p:nvPr/>
        </p:nvSpPr>
        <p:spPr>
          <a:xfrm>
            <a:off x="6248400" y="1981200"/>
            <a:ext cx="25654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63500" dist="38100" dir="5400000" rotWithShape="0">
              <a:srgbClr val="0F172A">
                <a:alpha val="1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504009-55D1-62EC-D11B-02CEF67859E0}"/>
              </a:ext>
            </a:extLst>
          </p:cNvPr>
          <p:cNvSpPr/>
          <p:nvPr/>
        </p:nvSpPr>
        <p:spPr>
          <a:xfrm>
            <a:off x="6248400" y="1981200"/>
            <a:ext cx="2565400" cy="889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BD4F72F-A11F-C78A-4707-3D0DE4F35893}"/>
              </a:ext>
            </a:extLst>
          </p:cNvPr>
          <p:cNvSpPr/>
          <p:nvPr/>
        </p:nvSpPr>
        <p:spPr>
          <a:xfrm>
            <a:off x="6502400" y="2286000"/>
            <a:ext cx="685800" cy="6858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96EE8B-8C15-CDE2-7C7C-17BA52843ECF}"/>
              </a:ext>
            </a:extLst>
          </p:cNvPr>
          <p:cNvSpPr txBox="1"/>
          <p:nvPr/>
        </p:nvSpPr>
        <p:spPr>
          <a:xfrm>
            <a:off x="6502400" y="2332166"/>
            <a:ext cx="685800" cy="26161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700" b="1">
                <a:solidFill>
                  <a:srgbClr val="FFFFFF"/>
                </a:solidFill>
                <a:latin typeface="Aptos Display" panose="020B0004020202020204" pitchFamily="34" charset="0"/>
              </a:rPr>
              <a:t>BS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BC3602-6E31-1009-7A7C-4C60A0B11D12}"/>
              </a:ext>
            </a:extLst>
          </p:cNvPr>
          <p:cNvSpPr txBox="1"/>
          <p:nvPr/>
        </p:nvSpPr>
        <p:spPr>
          <a:xfrm>
            <a:off x="6502400" y="3175000"/>
            <a:ext cx="20574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IN" b="1">
                <a:solidFill>
                  <a:srgbClr val="0A1A2F"/>
                </a:solidFill>
                <a:latin typeface="Aptos Display" panose="020B0004020202020204" pitchFamily="34" charset="0"/>
              </a:rPr>
              <a:t>Azure Blob Storage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C07CBB-DD3A-0B3A-1085-0CD1D7952207}"/>
              </a:ext>
            </a:extLst>
          </p:cNvPr>
          <p:cNvSpPr txBox="1"/>
          <p:nvPr/>
        </p:nvSpPr>
        <p:spPr>
          <a:xfrm>
            <a:off x="6502400" y="3987800"/>
            <a:ext cx="2057400" cy="50783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100">
                <a:solidFill>
                  <a:srgbClr val="435567"/>
                </a:solidFill>
                <a:latin typeface="Aptos" panose="020B0004020202020204" pitchFamily="34" charset="0"/>
              </a:rPr>
              <a:t>Stores product images, uploads, invoices, exports, and other object data.</a:t>
            </a:r>
            <a:endParaRPr lang="en-IN" sz="1100">
              <a:solidFill>
                <a:srgbClr val="435567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0FDEC5-C959-F283-B1AE-83BE8AAAC031}"/>
              </a:ext>
            </a:extLst>
          </p:cNvPr>
          <p:cNvSpPr txBox="1"/>
          <p:nvPr/>
        </p:nvSpPr>
        <p:spPr>
          <a:xfrm>
            <a:off x="6502400" y="5151566"/>
            <a:ext cx="20574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800" b="1">
                <a:solidFill>
                  <a:srgbClr val="10B981"/>
                </a:solidFill>
                <a:latin typeface="Aptos" panose="020B0004020202020204" pitchFamily="34" charset="0"/>
              </a:rPr>
              <a:t>AZURE PAAS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2EB9115-5A7A-E131-3D85-F5FFA2E5205B}"/>
              </a:ext>
            </a:extLst>
          </p:cNvPr>
          <p:cNvSpPr/>
          <p:nvPr/>
        </p:nvSpPr>
        <p:spPr>
          <a:xfrm>
            <a:off x="9067800" y="1981200"/>
            <a:ext cx="25654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63500" dist="38100" dir="5400000" rotWithShape="0">
              <a:srgbClr val="0F172A">
                <a:alpha val="1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C2BCD6-A764-57B6-2F69-60C2DCA27E54}"/>
              </a:ext>
            </a:extLst>
          </p:cNvPr>
          <p:cNvSpPr/>
          <p:nvPr/>
        </p:nvSpPr>
        <p:spPr>
          <a:xfrm>
            <a:off x="9067800" y="1981200"/>
            <a:ext cx="2565400" cy="889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92B780C-4AB7-3DAC-5A23-3655BFFAC21F}"/>
              </a:ext>
            </a:extLst>
          </p:cNvPr>
          <p:cNvSpPr/>
          <p:nvPr/>
        </p:nvSpPr>
        <p:spPr>
          <a:xfrm>
            <a:off x="9321800" y="2286000"/>
            <a:ext cx="685800" cy="6858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853BC2-B356-708B-2428-818B27D520D4}"/>
              </a:ext>
            </a:extLst>
          </p:cNvPr>
          <p:cNvSpPr txBox="1"/>
          <p:nvPr/>
        </p:nvSpPr>
        <p:spPr>
          <a:xfrm>
            <a:off x="9321800" y="2332166"/>
            <a:ext cx="685800" cy="26161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700" b="1">
                <a:solidFill>
                  <a:srgbClr val="FFFFFF"/>
                </a:solidFill>
                <a:latin typeface="Aptos Display" panose="020B0004020202020204" pitchFamily="34" charset="0"/>
              </a:rPr>
              <a:t>DB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CA3E0F-C47E-B71A-5847-5B4EC3DFAC84}"/>
              </a:ext>
            </a:extLst>
          </p:cNvPr>
          <p:cNvSpPr txBox="1"/>
          <p:nvPr/>
        </p:nvSpPr>
        <p:spPr>
          <a:xfrm>
            <a:off x="9321800" y="3175000"/>
            <a:ext cx="20574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IN" b="1">
                <a:solidFill>
                  <a:srgbClr val="0A1A2F"/>
                </a:solidFill>
                <a:latin typeface="Aptos Display" panose="020B0004020202020204" pitchFamily="34" charset="0"/>
              </a:rPr>
              <a:t>Cosmos DB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605812-A709-C676-040D-2D2CD30BDAA8}"/>
              </a:ext>
            </a:extLst>
          </p:cNvPr>
          <p:cNvSpPr txBox="1"/>
          <p:nvPr/>
        </p:nvSpPr>
        <p:spPr>
          <a:xfrm>
            <a:off x="9321800" y="3987800"/>
            <a:ext cx="2057400" cy="50783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1100">
                <a:solidFill>
                  <a:srgbClr val="435567"/>
                </a:solidFill>
                <a:latin typeface="Aptos" panose="020B0004020202020204" pitchFamily="34" charset="0"/>
              </a:rPr>
              <a:t>Provides a MongoDB-compatible database for products, carts, orders, and profiles.</a:t>
            </a:r>
            <a:endParaRPr lang="en-IN" sz="1100">
              <a:solidFill>
                <a:srgbClr val="435567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5E7B97-A408-2DFC-2A31-685B79469C12}"/>
              </a:ext>
            </a:extLst>
          </p:cNvPr>
          <p:cNvSpPr txBox="1"/>
          <p:nvPr/>
        </p:nvSpPr>
        <p:spPr>
          <a:xfrm>
            <a:off x="9321800" y="5151566"/>
            <a:ext cx="20574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800" b="1">
                <a:solidFill>
                  <a:srgbClr val="F59E0B"/>
                </a:solidFill>
                <a:latin typeface="Aptos" panose="020B0004020202020204" pitchFamily="34" charset="0"/>
              </a:rPr>
              <a:t>AZURE PAAS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81592E-31BF-0F3C-E713-D10BB7850DE6}"/>
              </a:ext>
            </a:extLst>
          </p:cNvPr>
          <p:cNvSpPr txBox="1"/>
          <p:nvPr/>
        </p:nvSpPr>
        <p:spPr>
          <a:xfrm>
            <a:off x="11328400" y="6459666"/>
            <a:ext cx="4318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IN" sz="900" b="1">
                <a:solidFill>
                  <a:srgbClr val="94A3B8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82280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FD835D-6CB2-FBE5-5A57-F9CF7D7F0D77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6F9240-2620-B5AE-767D-492A0D7008AC}"/>
              </a:ext>
            </a:extLst>
          </p:cNvPr>
          <p:cNvSpPr txBox="1"/>
          <p:nvPr/>
        </p:nvSpPr>
        <p:spPr>
          <a:xfrm>
            <a:off x="609600" y="350966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1000" b="1">
                <a:solidFill>
                  <a:srgbClr val="0078D4"/>
                </a:solidFill>
                <a:latin typeface="Aptos" panose="020B0004020202020204" pitchFamily="34" charset="0"/>
              </a:rPr>
              <a:t>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216370-80B4-237D-8F55-61FDC9DDBA57}"/>
              </a:ext>
            </a:extLst>
          </p:cNvPr>
          <p:cNvSpPr txBox="1"/>
          <p:nvPr/>
        </p:nvSpPr>
        <p:spPr>
          <a:xfrm>
            <a:off x="609600" y="744666"/>
            <a:ext cx="8636000" cy="46166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IN" sz="3000" b="1">
                <a:solidFill>
                  <a:srgbClr val="0A1A2F"/>
                </a:solidFill>
                <a:latin typeface="Aptos Display" panose="020B0004020202020204" pitchFamily="34" charset="0"/>
              </a:rPr>
              <a:t>Project Screenshots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59DD8-728D-8034-81FA-33E96AAA4B68}"/>
              </a:ext>
            </a:extLst>
          </p:cNvPr>
          <p:cNvSpPr txBox="1"/>
          <p:nvPr/>
        </p:nvSpPr>
        <p:spPr>
          <a:xfrm>
            <a:off x="609600" y="1341566"/>
            <a:ext cx="9652000" cy="200055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sz="1300">
                <a:solidFill>
                  <a:srgbClr val="435567"/>
                </a:solidFill>
                <a:latin typeface="Aptos" panose="020B0004020202020204" pitchFamily="34" charset="0"/>
              </a:rPr>
              <a:t>Replace these frames with screenshots from the running application and Azure portal.</a:t>
            </a:r>
            <a:endParaRPr lang="en-IN" sz="1300">
              <a:solidFill>
                <a:srgbClr val="43556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9F6931-8A53-EBA0-B321-EC18FF2E7EC4}"/>
              </a:ext>
            </a:extLst>
          </p:cNvPr>
          <p:cNvSpPr/>
          <p:nvPr/>
        </p:nvSpPr>
        <p:spPr>
          <a:xfrm>
            <a:off x="609600" y="1981200"/>
            <a:ext cx="3454400" cy="3632200"/>
          </a:xfrm>
          <a:prstGeom prst="roundRect">
            <a:avLst/>
          </a:prstGeom>
          <a:solidFill>
            <a:srgbClr val="F5F9FC"/>
          </a:solidFill>
          <a:ln w="19050">
            <a:solidFill>
              <a:srgbClr val="CBD5E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FFA465-AE5D-5283-DFAE-47186B8A589C}"/>
              </a:ext>
            </a:extLst>
          </p:cNvPr>
          <p:cNvSpPr/>
          <p:nvPr/>
        </p:nvSpPr>
        <p:spPr>
          <a:xfrm>
            <a:off x="2108200" y="2438400"/>
            <a:ext cx="4572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5E4F372-9F96-2400-B60B-33509F4013DE}"/>
              </a:ext>
            </a:extLst>
          </p:cNvPr>
          <p:cNvSpPr/>
          <p:nvPr/>
        </p:nvSpPr>
        <p:spPr>
          <a:xfrm>
            <a:off x="2400300" y="2501900"/>
            <a:ext cx="76200" cy="762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95711CFF-1BD3-3B35-F041-09101F4A9D3D}"/>
              </a:ext>
            </a:extLst>
          </p:cNvPr>
          <p:cNvSpPr/>
          <p:nvPr/>
        </p:nvSpPr>
        <p:spPr>
          <a:xfrm>
            <a:off x="2171700" y="2603500"/>
            <a:ext cx="317500" cy="152400"/>
          </a:xfrm>
          <a:prstGeom prst="triangle">
            <a:avLst/>
          </a:prstGeom>
          <a:solidFill>
            <a:srgbClr val="2C99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9B345F-83DD-4910-EB83-B8CBAFC78623}"/>
              </a:ext>
            </a:extLst>
          </p:cNvPr>
          <p:cNvSpPr txBox="1"/>
          <p:nvPr/>
        </p:nvSpPr>
        <p:spPr>
          <a:xfrm>
            <a:off x="838200" y="3119566"/>
            <a:ext cx="2997200" cy="23083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500" b="1">
                <a:solidFill>
                  <a:srgbClr val="0A1A2F"/>
                </a:solidFill>
                <a:latin typeface="Aptos Display" panose="020B0004020202020204" pitchFamily="34" charset="0"/>
              </a:rPr>
              <a:t>Home &amp; Products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40A8CF-451B-90E9-60E3-F241B65CC0AD}"/>
              </a:ext>
            </a:extLst>
          </p:cNvPr>
          <p:cNvSpPr txBox="1"/>
          <p:nvPr/>
        </p:nvSpPr>
        <p:spPr>
          <a:xfrm>
            <a:off x="863600" y="3403600"/>
            <a:ext cx="29464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94A3B8"/>
                </a:solidFill>
                <a:latin typeface="Aptos" panose="020B0004020202020204" pitchFamily="34" charset="0"/>
              </a:rPr>
              <a:t>Add the KubeCart landing page or product catalog screenshot.</a:t>
            </a:r>
            <a:endParaRPr lang="en-IN" sz="950">
              <a:solidFill>
                <a:srgbClr val="94A3B8"/>
              </a:solidFill>
              <a:latin typeface="Aptos" panose="020B00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A0B6C2-8CC2-FD49-99E4-046FFDC0B3FB}"/>
              </a:ext>
            </a:extLst>
          </p:cNvPr>
          <p:cNvSpPr/>
          <p:nvPr/>
        </p:nvSpPr>
        <p:spPr>
          <a:xfrm>
            <a:off x="787400" y="2159000"/>
            <a:ext cx="330200" cy="3302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058436-12C1-8090-08A5-2E756DB8897C}"/>
              </a:ext>
            </a:extLst>
          </p:cNvPr>
          <p:cNvSpPr txBox="1"/>
          <p:nvPr/>
        </p:nvSpPr>
        <p:spPr>
          <a:xfrm>
            <a:off x="787400" y="2205166"/>
            <a:ext cx="3302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700C0D0-8DE0-0E84-4970-7AB33CCEF5CF}"/>
              </a:ext>
            </a:extLst>
          </p:cNvPr>
          <p:cNvSpPr/>
          <p:nvPr/>
        </p:nvSpPr>
        <p:spPr>
          <a:xfrm>
            <a:off x="4368800" y="1981200"/>
            <a:ext cx="3454400" cy="3632200"/>
          </a:xfrm>
          <a:prstGeom prst="roundRect">
            <a:avLst/>
          </a:prstGeom>
          <a:solidFill>
            <a:srgbClr val="F5F9FC"/>
          </a:solidFill>
          <a:ln w="19050">
            <a:solidFill>
              <a:srgbClr val="CBD5E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35619FC-21F6-378C-56FF-79C94D73D6D8}"/>
              </a:ext>
            </a:extLst>
          </p:cNvPr>
          <p:cNvSpPr/>
          <p:nvPr/>
        </p:nvSpPr>
        <p:spPr>
          <a:xfrm>
            <a:off x="5867400" y="2438400"/>
            <a:ext cx="4572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D1D6005-2F61-C24C-8151-DAAF17D74472}"/>
              </a:ext>
            </a:extLst>
          </p:cNvPr>
          <p:cNvSpPr/>
          <p:nvPr/>
        </p:nvSpPr>
        <p:spPr>
          <a:xfrm>
            <a:off x="6159500" y="2501900"/>
            <a:ext cx="76200" cy="762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5BECD3-9FE7-6735-8936-B23153ACC1D9}"/>
              </a:ext>
            </a:extLst>
          </p:cNvPr>
          <p:cNvSpPr/>
          <p:nvPr/>
        </p:nvSpPr>
        <p:spPr>
          <a:xfrm>
            <a:off x="5930900" y="2603500"/>
            <a:ext cx="317500" cy="152400"/>
          </a:xfrm>
          <a:prstGeom prst="triangle">
            <a:avLst/>
          </a:prstGeom>
          <a:solidFill>
            <a:srgbClr val="2C99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2F02E9-9C57-55D0-988D-BB62E82927A2}"/>
              </a:ext>
            </a:extLst>
          </p:cNvPr>
          <p:cNvSpPr txBox="1"/>
          <p:nvPr/>
        </p:nvSpPr>
        <p:spPr>
          <a:xfrm>
            <a:off x="4597400" y="3119566"/>
            <a:ext cx="2997200" cy="23083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500" b="1">
                <a:solidFill>
                  <a:srgbClr val="0A1A2F"/>
                </a:solidFill>
                <a:latin typeface="Aptos Display" panose="020B0004020202020204" pitchFamily="34" charset="0"/>
              </a:rPr>
              <a:t>Cart &amp; Checkout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9AD3AF-13AF-6050-5B5F-C7BE263AB131}"/>
              </a:ext>
            </a:extLst>
          </p:cNvPr>
          <p:cNvSpPr txBox="1"/>
          <p:nvPr/>
        </p:nvSpPr>
        <p:spPr>
          <a:xfrm>
            <a:off x="4622800" y="3403600"/>
            <a:ext cx="2946400" cy="14619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94A3B8"/>
                </a:solidFill>
                <a:latin typeface="Aptos" panose="020B0004020202020204" pitchFamily="34" charset="0"/>
              </a:rPr>
              <a:t>Add the shopping cart, order flow, or profile screen.</a:t>
            </a:r>
            <a:endParaRPr lang="en-IN" sz="950">
              <a:solidFill>
                <a:srgbClr val="94A3B8"/>
              </a:solidFill>
              <a:latin typeface="Aptos" panose="020B0004020202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6F6A1B-3216-3631-ED0A-704519B67F28}"/>
              </a:ext>
            </a:extLst>
          </p:cNvPr>
          <p:cNvSpPr/>
          <p:nvPr/>
        </p:nvSpPr>
        <p:spPr>
          <a:xfrm>
            <a:off x="4546600" y="2159000"/>
            <a:ext cx="330200" cy="3302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041E29-66A1-8EDA-8A62-7C69887AB7E7}"/>
              </a:ext>
            </a:extLst>
          </p:cNvPr>
          <p:cNvSpPr txBox="1"/>
          <p:nvPr/>
        </p:nvSpPr>
        <p:spPr>
          <a:xfrm>
            <a:off x="4546600" y="2205166"/>
            <a:ext cx="3302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84EB712-3F01-B089-5E62-3F5EAD9AE0C5}"/>
              </a:ext>
            </a:extLst>
          </p:cNvPr>
          <p:cNvSpPr/>
          <p:nvPr/>
        </p:nvSpPr>
        <p:spPr>
          <a:xfrm>
            <a:off x="8128000" y="1981200"/>
            <a:ext cx="3454400" cy="3632200"/>
          </a:xfrm>
          <a:prstGeom prst="roundRect">
            <a:avLst/>
          </a:prstGeom>
          <a:solidFill>
            <a:srgbClr val="F5F9FC"/>
          </a:solidFill>
          <a:ln w="19050">
            <a:solidFill>
              <a:srgbClr val="CBD5E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88F6EED-019D-6E19-1750-DA3EEC3D4CAF}"/>
              </a:ext>
            </a:extLst>
          </p:cNvPr>
          <p:cNvSpPr/>
          <p:nvPr/>
        </p:nvSpPr>
        <p:spPr>
          <a:xfrm>
            <a:off x="9626600" y="2438400"/>
            <a:ext cx="4572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DB9BAF4-77E0-3379-5A46-63DF3CFF3143}"/>
              </a:ext>
            </a:extLst>
          </p:cNvPr>
          <p:cNvSpPr/>
          <p:nvPr/>
        </p:nvSpPr>
        <p:spPr>
          <a:xfrm>
            <a:off x="9918700" y="2501900"/>
            <a:ext cx="76200" cy="762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8E6119D0-67A8-7173-987F-AF0C352E0826}"/>
              </a:ext>
            </a:extLst>
          </p:cNvPr>
          <p:cNvSpPr/>
          <p:nvPr/>
        </p:nvSpPr>
        <p:spPr>
          <a:xfrm>
            <a:off x="9690100" y="2603500"/>
            <a:ext cx="317500" cy="152400"/>
          </a:xfrm>
          <a:prstGeom prst="triangle">
            <a:avLst/>
          </a:prstGeom>
          <a:solidFill>
            <a:srgbClr val="2C99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181F5E-85DD-80B2-3E95-41C7AE65083D}"/>
              </a:ext>
            </a:extLst>
          </p:cNvPr>
          <p:cNvSpPr txBox="1"/>
          <p:nvPr/>
        </p:nvSpPr>
        <p:spPr>
          <a:xfrm>
            <a:off x="8356600" y="3119566"/>
            <a:ext cx="2997200" cy="23083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500" b="1">
                <a:solidFill>
                  <a:srgbClr val="0A1A2F"/>
                </a:solidFill>
                <a:latin typeface="Aptos Display" panose="020B0004020202020204" pitchFamily="34" charset="0"/>
              </a:rPr>
              <a:t>Azure Resources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009662-5291-D416-2ACF-C5858480A77E}"/>
              </a:ext>
            </a:extLst>
          </p:cNvPr>
          <p:cNvSpPr txBox="1"/>
          <p:nvPr/>
        </p:nvSpPr>
        <p:spPr>
          <a:xfrm>
            <a:off x="8382000" y="3403600"/>
            <a:ext cx="2946400" cy="2923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US" sz="950">
                <a:solidFill>
                  <a:srgbClr val="94A3B8"/>
                </a:solidFill>
                <a:latin typeface="Aptos" panose="020B0004020202020204" pitchFamily="34" charset="0"/>
              </a:rPr>
              <a:t>Add the App Service overview or deployed resource group.</a:t>
            </a:r>
            <a:endParaRPr lang="en-IN" sz="950">
              <a:solidFill>
                <a:srgbClr val="94A3B8"/>
              </a:solidFill>
              <a:latin typeface="Aptos" panose="020B000402020202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4CCC4BA-AC10-1117-91AE-8F77E602F75A}"/>
              </a:ext>
            </a:extLst>
          </p:cNvPr>
          <p:cNvSpPr/>
          <p:nvPr/>
        </p:nvSpPr>
        <p:spPr>
          <a:xfrm>
            <a:off x="8305800" y="2159000"/>
            <a:ext cx="330200" cy="3302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D3DF3A-1746-48AA-0E37-C13FEE760401}"/>
              </a:ext>
            </a:extLst>
          </p:cNvPr>
          <p:cNvSpPr txBox="1"/>
          <p:nvPr/>
        </p:nvSpPr>
        <p:spPr>
          <a:xfrm>
            <a:off x="8305800" y="2205166"/>
            <a:ext cx="330200" cy="153888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10CDE2-0792-F612-D379-B5240C507CCF}"/>
              </a:ext>
            </a:extLst>
          </p:cNvPr>
          <p:cNvSpPr txBox="1"/>
          <p:nvPr/>
        </p:nvSpPr>
        <p:spPr>
          <a:xfrm>
            <a:off x="609600" y="6015166"/>
            <a:ext cx="82550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sz="900" b="1">
                <a:solidFill>
                  <a:srgbClr val="0078D4"/>
                </a:solidFill>
                <a:latin typeface="Aptos" panose="020B0004020202020204" pitchFamily="34" charset="0"/>
              </a:rPr>
              <a:t>TIP  |  Use 16:9 screenshots for the cleanest fit.</a:t>
            </a:r>
            <a:endParaRPr lang="en-IN" sz="900" b="1">
              <a:solidFill>
                <a:srgbClr val="0078D4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97AFFA-EA3B-AE05-E2B6-4C1155ADECB2}"/>
              </a:ext>
            </a:extLst>
          </p:cNvPr>
          <p:cNvSpPr txBox="1"/>
          <p:nvPr/>
        </p:nvSpPr>
        <p:spPr>
          <a:xfrm>
            <a:off x="11328400" y="6459666"/>
            <a:ext cx="4318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IN" sz="900" b="1">
                <a:solidFill>
                  <a:srgbClr val="94A3B8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07741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67BB2DA-3C28-900F-1022-96DA002A54C3}"/>
              </a:ext>
            </a:extLst>
          </p:cNvPr>
          <p:cNvSpPr/>
          <p:nvPr/>
        </p:nvSpPr>
        <p:spPr>
          <a:xfrm>
            <a:off x="-1524000" y="3556000"/>
            <a:ext cx="4191000" cy="41910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26E64A5-98BE-9252-4456-0608CA2D787C}"/>
              </a:ext>
            </a:extLst>
          </p:cNvPr>
          <p:cNvSpPr/>
          <p:nvPr/>
        </p:nvSpPr>
        <p:spPr>
          <a:xfrm>
            <a:off x="-698500" y="4318000"/>
            <a:ext cx="2603500" cy="2603500"/>
          </a:xfrm>
          <a:prstGeom prst="ellipse">
            <a:avLst/>
          </a:prstGeom>
          <a:solidFill>
            <a:srgbClr val="122B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B05C7C0-F547-5C5F-633E-CD9E9637C5B6}"/>
              </a:ext>
            </a:extLst>
          </p:cNvPr>
          <p:cNvSpPr/>
          <p:nvPr/>
        </p:nvSpPr>
        <p:spPr>
          <a:xfrm>
            <a:off x="10033000" y="-1397000"/>
            <a:ext cx="3556000" cy="3556000"/>
          </a:xfrm>
          <a:prstGeom prst="ellipse">
            <a:avLst/>
          </a:prstGeom>
          <a:solidFill>
            <a:srgbClr val="30C6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5CCCC39-57FA-EE61-E1E8-2AAAFEAC1B99}"/>
              </a:ext>
            </a:extLst>
          </p:cNvPr>
          <p:cNvSpPr/>
          <p:nvPr/>
        </p:nvSpPr>
        <p:spPr>
          <a:xfrm>
            <a:off x="10668000" y="-698500"/>
            <a:ext cx="2286000" cy="22860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3B425F-0B68-0763-6404-72E2D9CA6B58}"/>
              </a:ext>
            </a:extLst>
          </p:cNvPr>
          <p:cNvSpPr txBox="1"/>
          <p:nvPr/>
        </p:nvSpPr>
        <p:spPr>
          <a:xfrm>
            <a:off x="1651000" y="2103566"/>
            <a:ext cx="8890000" cy="738664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4800" b="1">
                <a:solidFill>
                  <a:srgbClr val="FFFFFF"/>
                </a:solidFill>
                <a:latin typeface="Aptos Display" panose="020B0004020202020204" pitchFamily="34" charset="0"/>
              </a:rPr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F05314-727C-482B-CE24-A1A8DED52FC2}"/>
              </a:ext>
            </a:extLst>
          </p:cNvPr>
          <p:cNvSpPr/>
          <p:nvPr/>
        </p:nvSpPr>
        <p:spPr>
          <a:xfrm>
            <a:off x="5384800" y="3175000"/>
            <a:ext cx="1422400" cy="508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344466-85A9-1B00-6AD0-D695D82672DF}"/>
              </a:ext>
            </a:extLst>
          </p:cNvPr>
          <p:cNvSpPr txBox="1"/>
          <p:nvPr/>
        </p:nvSpPr>
        <p:spPr>
          <a:xfrm>
            <a:off x="2286000" y="3678366"/>
            <a:ext cx="76200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2000">
                <a:solidFill>
                  <a:srgbClr val="F5F9FC"/>
                </a:solidFill>
                <a:latin typeface="Aptos Display" panose="020B0004020202020204" pitchFamily="34" charset="0"/>
              </a:rPr>
              <a:t>Questions &amp; Discussion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A8EA1-5F5D-D7FC-8565-2D9BB00C4B7D}"/>
              </a:ext>
            </a:extLst>
          </p:cNvPr>
          <p:cNvSpPr txBox="1"/>
          <p:nvPr/>
        </p:nvSpPr>
        <p:spPr>
          <a:xfrm>
            <a:off x="2286000" y="4427666"/>
            <a:ext cx="7620000" cy="184666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IN" sz="1200" b="1">
                <a:solidFill>
                  <a:srgbClr val="94A3B8"/>
                </a:solidFill>
                <a:latin typeface="Aptos" panose="020B0004020202020204" pitchFamily="34" charset="0"/>
              </a:rPr>
              <a:t>KubeCart on Microsoft Azure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5DCC94-6FE5-4962-848A-684106BADB08}"/>
              </a:ext>
            </a:extLst>
          </p:cNvPr>
          <p:cNvSpPr txBox="1"/>
          <p:nvPr/>
        </p:nvSpPr>
        <p:spPr>
          <a:xfrm>
            <a:off x="11328400" y="6459666"/>
            <a:ext cx="431800" cy="138499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r"/>
            <a:r>
              <a:rPr lang="en-IN" sz="900" b="1">
                <a:solidFill>
                  <a:srgbClr val="94A3B8"/>
                </a:solidFill>
                <a:latin typeface="Aptos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99734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Office PowerPoint</Application>
  <PresentationFormat>Custom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Ahamed Aasik Afridi S</dc:creator>
  <cp:lastModifiedBy>Ahamed Aasik Afridi S</cp:lastModifiedBy>
  <cp:revision>1</cp:revision>
  <dcterms:created xsi:type="dcterms:W3CDTF">2026-06-10T04:10:24Z</dcterms:created>
  <dcterms:modified xsi:type="dcterms:W3CDTF">2026-06-10T04:10:24Z</dcterms:modified>
</cp:coreProperties>
</file>