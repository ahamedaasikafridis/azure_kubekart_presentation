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9A96-4807-3D1D-3ECD-929A70E93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1CD63-EA84-C236-40FD-8A40B3269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617E1-B555-3BE9-7F54-11814D0B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FDD23-5674-49EF-9BA7-C589CD16C6B2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6224B-DFD2-1453-AF26-56F3DE2C1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9A01D-0BCA-92C9-5CD1-04901E4BA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CE2-CB98-4FFA-B255-5C4EE5E59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88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5AF7-571E-5EFE-04B4-3396A449D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7C633-87ED-33BA-8C72-478953878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91A60-BE5D-E7FF-1937-4C138395B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FDD23-5674-49EF-9BA7-C589CD16C6B2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46CB0-0714-5FB3-E35F-F841E10CD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D0F05-C0CC-26CF-A71C-D7261A1B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CE2-CB98-4FFA-B255-5C4EE5E59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701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2184-D132-2517-4C9D-3B5E86FCC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F1F1A-28C5-7360-4DED-827E06538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70CB0-AC48-C493-7C06-1E055FD50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FDD23-5674-49EF-9BA7-C589CD16C6B2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39F2F-CB6D-EF81-7DBB-08C9E6B7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956E5-D23C-3FBA-0F0D-8EB3814A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CE2-CB98-4FFA-B255-5C4EE5E59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905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9162-AB5F-5842-D0E7-23621246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539A-915E-C7E9-D696-5F543B21D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01A66-5C26-8D38-F0C1-0DC3E89ED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D26C1-C73A-19BF-CF11-42136233D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FDD23-5674-49EF-9BA7-C589CD16C6B2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7D394-D5B6-9A8E-BA67-4BCA6E155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AF050-48B4-4C83-DB27-524C7225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CE2-CB98-4FFA-B255-5C4EE5E59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474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11883-16EE-FEE2-4C47-E51EC65A8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79ED3-D3EA-E271-F458-D9DBEBA55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300E1-0A2F-AC16-475D-D0A29B332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65DB3-1E35-F700-C9A9-07E008AEA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990CC8-6B7A-231F-3DE1-2F82C410BC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DE7C1F-C209-443A-4ECE-C19B94BA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FDD23-5674-49EF-9BA7-C589CD16C6B2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0648D6-9833-3D89-DF4E-798370F37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046317-2A34-7FA9-F6F6-6096DCCC7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CE2-CB98-4FFA-B255-5C4EE5E59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99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1FA34-2A5D-1795-3050-326ACB8E7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E84367-6944-64D2-F160-7B4E732A4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FDD23-5674-49EF-9BA7-C589CD16C6B2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44699-1D9F-A7D0-A7F2-D808E2EC2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1E276-FEF8-AD2E-5CAF-5F51509F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CE2-CB98-4FFA-B255-5C4EE5E59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16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ED26E4-BD47-C221-B78C-95CFE88DF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FDD23-5674-49EF-9BA7-C589CD16C6B2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BE083-449B-03B3-4959-BF1B4BB28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88192-6F73-C91F-8D4B-7CFEFC6E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CE2-CB98-4FFA-B255-5C4EE5E59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72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1D078-4EB2-DB7C-EC50-DBDF95E8F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DFBC9-0A4B-9C65-F95B-B531E0BB6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F88F7-65C7-F3CE-869D-A9F715881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C92DF-F0E5-2A5F-0192-A65C5EA78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FDD23-5674-49EF-9BA7-C589CD16C6B2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B4685-68F7-01CB-6FB6-9AEBC6CB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5B1AF-F708-9E63-B439-DF60E39A6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CE2-CB98-4FFA-B255-5C4EE5E59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1E38-631F-C77C-95E9-AD1BD9A32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C2648A-AD3D-E294-B5B1-EBA4A5900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563BF-CB2F-06FB-052F-6504F1F52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13B87-3176-9032-8767-5CA31A4CA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FDD23-5674-49EF-9BA7-C589CD16C6B2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D1CCA-20B5-F1CD-7199-E1C127012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FCCB2-7F42-6FF1-5A68-43E87D343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CE2-CB98-4FFA-B255-5C4EE5E59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39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66813-6E06-BFC3-E26E-408486531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52C3C-657C-9062-1218-A69C44128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C3554-18FF-FFA4-DFF7-25ADF18D1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FDD23-5674-49EF-9BA7-C589CD16C6B2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0DD07-3677-D298-74BC-F1B0F55BD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15295-567B-C190-8A40-A9F70C5F7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CE2-CB98-4FFA-B255-5C4EE5E59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193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28EFCF-63EB-E69B-94F1-BA639ACD8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B112F-B76C-8610-5FE2-0AFA7999B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A1FBF-C0E3-2707-EC70-F3165CF27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FDD23-5674-49EF-9BA7-C589CD16C6B2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1A7F4-5A0A-0D2C-212C-A1C0356C4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EF288-C7B6-B239-00F2-CFF71088B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CE2-CB98-4FFA-B255-5C4EE5E59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890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7E60CC-E01D-2CC8-BB37-C0E1196E8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18284-1381-7DEA-1FD6-34BEF9CA5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078A6-BEA3-75DE-79D8-043B058F5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3FDD23-5674-49EF-9BA7-C589CD16C6B2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94DC0-5C98-24B5-54DE-53E2D0E58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B9BF-80A4-3E85-32AA-1D4532D44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CCCE2-CB98-4FFA-B255-5C4EE5E59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34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365D43-0A29-9EE6-0042-56EDEAF21653}"/>
              </a:ext>
            </a:extLst>
          </p:cNvPr>
          <p:cNvSpPr/>
          <p:nvPr/>
        </p:nvSpPr>
        <p:spPr>
          <a:xfrm>
            <a:off x="0" y="0"/>
            <a:ext cx="139700" cy="68580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B23876-F893-9FDC-0A57-79E7DAE3C4E1}"/>
              </a:ext>
            </a:extLst>
          </p:cNvPr>
          <p:cNvSpPr/>
          <p:nvPr/>
        </p:nvSpPr>
        <p:spPr>
          <a:xfrm>
            <a:off x="9144000" y="-1143000"/>
            <a:ext cx="3810000" cy="38100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B4F40EF-ABDB-1ECA-DFCC-40C65D01489C}"/>
              </a:ext>
            </a:extLst>
          </p:cNvPr>
          <p:cNvSpPr/>
          <p:nvPr/>
        </p:nvSpPr>
        <p:spPr>
          <a:xfrm>
            <a:off x="9969500" y="190500"/>
            <a:ext cx="2667000" cy="2667000"/>
          </a:xfrm>
          <a:prstGeom prst="ellipse">
            <a:avLst/>
          </a:prstGeom>
          <a:solidFill>
            <a:srgbClr val="122B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0A0ED46-E3D3-CC5D-B55B-74148F9C39E6}"/>
              </a:ext>
            </a:extLst>
          </p:cNvPr>
          <p:cNvSpPr/>
          <p:nvPr/>
        </p:nvSpPr>
        <p:spPr>
          <a:xfrm>
            <a:off x="10604500" y="889000"/>
            <a:ext cx="1397000" cy="1397000"/>
          </a:xfrm>
          <a:prstGeom prst="ellipse">
            <a:avLst/>
          </a:prstGeom>
          <a:solidFill>
            <a:srgbClr val="30C6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30902-E08C-503C-B488-43FE24F81D69}"/>
              </a:ext>
            </a:extLst>
          </p:cNvPr>
          <p:cNvSpPr txBox="1"/>
          <p:nvPr/>
        </p:nvSpPr>
        <p:spPr>
          <a:xfrm>
            <a:off x="838200" y="1620966"/>
            <a:ext cx="7874000" cy="83099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5400" b="1">
                <a:solidFill>
                  <a:srgbClr val="FFFFFF"/>
                </a:solidFill>
                <a:latin typeface="Aptos Display" panose="020B0004020202020204" pitchFamily="34" charset="0"/>
              </a:rPr>
              <a:t>KubeCart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6B03B8-4D91-7A9F-C8D1-30873D677A85}"/>
              </a:ext>
            </a:extLst>
          </p:cNvPr>
          <p:cNvSpPr txBox="1"/>
          <p:nvPr/>
        </p:nvSpPr>
        <p:spPr>
          <a:xfrm>
            <a:off x="876300" y="2984500"/>
            <a:ext cx="8001000" cy="3693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IN" sz="2400" dirty="0">
                <a:solidFill>
                  <a:srgbClr val="F5F9FC"/>
                </a:solidFill>
                <a:latin typeface="Aptos Display" panose="020B0004020202020204" pitchFamily="34" charset="0"/>
              </a:rPr>
              <a:t>Secure E-Commerce Platform on Microsoft Azure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A42F87-DADA-8A04-5521-8D43507DB8A1}"/>
              </a:ext>
            </a:extLst>
          </p:cNvPr>
          <p:cNvSpPr/>
          <p:nvPr/>
        </p:nvSpPr>
        <p:spPr>
          <a:xfrm>
            <a:off x="876300" y="4064000"/>
            <a:ext cx="1041400" cy="508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F0CC9F-504F-4C00-BC2C-E6C6B1C6816B}"/>
              </a:ext>
            </a:extLst>
          </p:cNvPr>
          <p:cNvSpPr txBox="1"/>
          <p:nvPr/>
        </p:nvSpPr>
        <p:spPr>
          <a:xfrm>
            <a:off x="876300" y="4394200"/>
            <a:ext cx="7493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600">
                <a:solidFill>
                  <a:srgbClr val="94A3B8"/>
                </a:solidFill>
                <a:latin typeface="Aptos" panose="020B0004020202020204" pitchFamily="34" charset="0"/>
              </a:rPr>
              <a:t>A monolithic Node.js and React application built with managed Azure platform services.</a:t>
            </a:r>
            <a:endParaRPr lang="en-IN" sz="1600">
              <a:solidFill>
                <a:srgbClr val="94A3B8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71D37-F6D9-D2B6-8F53-7DAB2C7980A4}"/>
              </a:ext>
            </a:extLst>
          </p:cNvPr>
          <p:cNvSpPr txBox="1"/>
          <p:nvPr/>
        </p:nvSpPr>
        <p:spPr>
          <a:xfrm>
            <a:off x="11328400" y="6459666"/>
            <a:ext cx="4318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IN" sz="900" b="1">
                <a:solidFill>
                  <a:srgbClr val="94A3B8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80548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C81961-8A00-DE11-5340-8A4F270CD4C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4FBDF3-9CA1-D72D-431B-429B27C12592}"/>
              </a:ext>
            </a:extLst>
          </p:cNvPr>
          <p:cNvSpPr txBox="1"/>
          <p:nvPr/>
        </p:nvSpPr>
        <p:spPr>
          <a:xfrm>
            <a:off x="609600" y="350966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1000" b="1">
                <a:solidFill>
                  <a:srgbClr val="0078D4"/>
                </a:solidFill>
                <a:latin typeface="Aptos" panose="020B0004020202020204" pitchFamily="34" charset="0"/>
              </a:rPr>
              <a:t>TECHNOLOGY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87DF5F-E381-B6AE-BEC1-A7B3A0133B33}"/>
              </a:ext>
            </a:extLst>
          </p:cNvPr>
          <p:cNvSpPr txBox="1"/>
          <p:nvPr/>
        </p:nvSpPr>
        <p:spPr>
          <a:xfrm>
            <a:off x="609600" y="744666"/>
            <a:ext cx="8636000" cy="46166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3000" b="1">
                <a:solidFill>
                  <a:srgbClr val="0A1A2F"/>
                </a:solidFill>
                <a:latin typeface="Aptos Display" panose="020B0004020202020204" pitchFamily="34" charset="0"/>
              </a:rPr>
              <a:t>Azure PaaS Services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1A0B2-994C-29C2-550E-19ABCBA54960}"/>
              </a:ext>
            </a:extLst>
          </p:cNvPr>
          <p:cNvSpPr txBox="1"/>
          <p:nvPr/>
        </p:nvSpPr>
        <p:spPr>
          <a:xfrm>
            <a:off x="609600" y="1341566"/>
            <a:ext cx="9144000" cy="20005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sz="1300">
                <a:solidFill>
                  <a:srgbClr val="435567"/>
                </a:solidFill>
                <a:latin typeface="Aptos" panose="020B0004020202020204" pitchFamily="34" charset="0"/>
              </a:rPr>
              <a:t>Managed services keep KubeCart scalable, secure, and easier to operate.</a:t>
            </a:r>
            <a:endParaRPr lang="en-IN" sz="13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FC83F7-18F0-1468-18B5-C44218A1386A}"/>
              </a:ext>
            </a:extLst>
          </p:cNvPr>
          <p:cNvSpPr/>
          <p:nvPr/>
        </p:nvSpPr>
        <p:spPr>
          <a:xfrm>
            <a:off x="609600" y="1981200"/>
            <a:ext cx="25654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63500" dist="38100" dir="5400000" rotWithShape="0">
              <a:srgbClr val="0F172A">
                <a:alpha val="1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F30282-AB9D-8F96-1E64-071D480BC116}"/>
              </a:ext>
            </a:extLst>
          </p:cNvPr>
          <p:cNvSpPr/>
          <p:nvPr/>
        </p:nvSpPr>
        <p:spPr>
          <a:xfrm>
            <a:off x="609600" y="1981200"/>
            <a:ext cx="2565400" cy="889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A7C00C-9D20-B17E-C0D8-90CC918FDAE1}"/>
              </a:ext>
            </a:extLst>
          </p:cNvPr>
          <p:cNvSpPr/>
          <p:nvPr/>
        </p:nvSpPr>
        <p:spPr>
          <a:xfrm>
            <a:off x="863600" y="2286000"/>
            <a:ext cx="685800" cy="6858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383E6-FBCF-1CF6-7A9E-2EA803E0AEAF}"/>
              </a:ext>
            </a:extLst>
          </p:cNvPr>
          <p:cNvSpPr txBox="1"/>
          <p:nvPr/>
        </p:nvSpPr>
        <p:spPr>
          <a:xfrm>
            <a:off x="863600" y="2332166"/>
            <a:ext cx="6858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700" b="1">
                <a:solidFill>
                  <a:srgbClr val="FFFFFF"/>
                </a:solidFill>
                <a:latin typeface="Aptos Display" panose="020B0004020202020204" pitchFamily="34" charset="0"/>
              </a:rPr>
              <a:t>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B0E0B2-EE66-8953-5BF6-5A70271DCD7B}"/>
              </a:ext>
            </a:extLst>
          </p:cNvPr>
          <p:cNvSpPr txBox="1"/>
          <p:nvPr/>
        </p:nvSpPr>
        <p:spPr>
          <a:xfrm>
            <a:off x="863600" y="3175000"/>
            <a:ext cx="20574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IN" b="1">
                <a:solidFill>
                  <a:srgbClr val="0A1A2F"/>
                </a:solidFill>
                <a:latin typeface="Aptos Display" panose="020B0004020202020204" pitchFamily="34" charset="0"/>
              </a:rPr>
              <a:t>Azure App Service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54B4CF-62CD-0A24-3741-0040BF69C7F3}"/>
              </a:ext>
            </a:extLst>
          </p:cNvPr>
          <p:cNvSpPr txBox="1"/>
          <p:nvPr/>
        </p:nvSpPr>
        <p:spPr>
          <a:xfrm>
            <a:off x="863600" y="3987800"/>
            <a:ext cx="2057400" cy="50783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100">
                <a:solidFill>
                  <a:srgbClr val="435567"/>
                </a:solidFill>
                <a:latin typeface="Aptos" panose="020B0004020202020204" pitchFamily="34" charset="0"/>
              </a:rPr>
              <a:t>Hosts the Node.js API and serves the React frontend as one managed web application.</a:t>
            </a:r>
            <a:endParaRPr lang="en-IN" sz="11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19F10F-4F13-35F8-7815-F3F5E2C111B5}"/>
              </a:ext>
            </a:extLst>
          </p:cNvPr>
          <p:cNvSpPr txBox="1"/>
          <p:nvPr/>
        </p:nvSpPr>
        <p:spPr>
          <a:xfrm>
            <a:off x="863600" y="5151566"/>
            <a:ext cx="20574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800" b="1">
                <a:solidFill>
                  <a:srgbClr val="0078D4"/>
                </a:solidFill>
                <a:latin typeface="Aptos" panose="020B0004020202020204" pitchFamily="34" charset="0"/>
              </a:rPr>
              <a:t>AZURE PAAS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66A93C-AACE-C21E-246D-EBA06E3FA8C9}"/>
              </a:ext>
            </a:extLst>
          </p:cNvPr>
          <p:cNvSpPr/>
          <p:nvPr/>
        </p:nvSpPr>
        <p:spPr>
          <a:xfrm>
            <a:off x="3429000" y="1981200"/>
            <a:ext cx="25654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63500" dist="38100" dir="5400000" rotWithShape="0">
              <a:srgbClr val="0F172A">
                <a:alpha val="1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69BA56-3E3A-792C-9414-9110DD8C1C8E}"/>
              </a:ext>
            </a:extLst>
          </p:cNvPr>
          <p:cNvSpPr/>
          <p:nvPr/>
        </p:nvSpPr>
        <p:spPr>
          <a:xfrm>
            <a:off x="3429000" y="1981200"/>
            <a:ext cx="2565400" cy="889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5496F5F-7691-ECB9-8624-03271E48C67F}"/>
              </a:ext>
            </a:extLst>
          </p:cNvPr>
          <p:cNvSpPr/>
          <p:nvPr/>
        </p:nvSpPr>
        <p:spPr>
          <a:xfrm>
            <a:off x="3683000" y="2286000"/>
            <a:ext cx="685800" cy="685800"/>
          </a:xfrm>
          <a:prstGeom prst="ellipse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F8DD99-0136-480B-7E88-C2110C9D67D5}"/>
              </a:ext>
            </a:extLst>
          </p:cNvPr>
          <p:cNvSpPr txBox="1"/>
          <p:nvPr/>
        </p:nvSpPr>
        <p:spPr>
          <a:xfrm>
            <a:off x="3683000" y="2332166"/>
            <a:ext cx="6858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700" b="1">
                <a:solidFill>
                  <a:srgbClr val="FFFFFF"/>
                </a:solidFill>
                <a:latin typeface="Aptos Display" panose="020B0004020202020204" pitchFamily="34" charset="0"/>
              </a:rPr>
              <a:t>KV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F05833-AD2E-D88B-440A-2D78A743D11B}"/>
              </a:ext>
            </a:extLst>
          </p:cNvPr>
          <p:cNvSpPr txBox="1"/>
          <p:nvPr/>
        </p:nvSpPr>
        <p:spPr>
          <a:xfrm>
            <a:off x="3683000" y="3175000"/>
            <a:ext cx="20574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IN" b="1">
                <a:solidFill>
                  <a:srgbClr val="0A1A2F"/>
                </a:solidFill>
                <a:latin typeface="Aptos Display" panose="020B0004020202020204" pitchFamily="34" charset="0"/>
              </a:rPr>
              <a:t>Azure Key Vault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EFBA0A-D0CB-1F37-D6CB-29B857479080}"/>
              </a:ext>
            </a:extLst>
          </p:cNvPr>
          <p:cNvSpPr txBox="1"/>
          <p:nvPr/>
        </p:nvSpPr>
        <p:spPr>
          <a:xfrm>
            <a:off x="3683000" y="3987800"/>
            <a:ext cx="2057400" cy="50783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100">
                <a:solidFill>
                  <a:srgbClr val="435567"/>
                </a:solidFill>
                <a:latin typeface="Aptos" panose="020B0004020202020204" pitchFamily="34" charset="0"/>
              </a:rPr>
              <a:t>Protects connection strings, credentials, and application secrets outside the codebase.</a:t>
            </a:r>
            <a:endParaRPr lang="en-IN" sz="11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93AB0B-D46D-5B94-3E47-F400BB15A4AC}"/>
              </a:ext>
            </a:extLst>
          </p:cNvPr>
          <p:cNvSpPr txBox="1"/>
          <p:nvPr/>
        </p:nvSpPr>
        <p:spPr>
          <a:xfrm>
            <a:off x="3683000" y="5151566"/>
            <a:ext cx="20574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800" b="1">
                <a:solidFill>
                  <a:srgbClr val="7C3AED"/>
                </a:solidFill>
                <a:latin typeface="Aptos" panose="020B0004020202020204" pitchFamily="34" charset="0"/>
              </a:rPr>
              <a:t>AZURE PAAS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7E53A63-D92B-64B9-EE6F-7E2165C03436}"/>
              </a:ext>
            </a:extLst>
          </p:cNvPr>
          <p:cNvSpPr/>
          <p:nvPr/>
        </p:nvSpPr>
        <p:spPr>
          <a:xfrm>
            <a:off x="6248400" y="1981200"/>
            <a:ext cx="25654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63500" dist="38100" dir="5400000" rotWithShape="0">
              <a:srgbClr val="0F172A">
                <a:alpha val="1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8FD694-310D-5CC1-E097-3B1AC0144EA3}"/>
              </a:ext>
            </a:extLst>
          </p:cNvPr>
          <p:cNvSpPr/>
          <p:nvPr/>
        </p:nvSpPr>
        <p:spPr>
          <a:xfrm>
            <a:off x="6248400" y="1981200"/>
            <a:ext cx="2565400" cy="889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2D34D9E-A28A-9C87-5F51-3243CF4C0225}"/>
              </a:ext>
            </a:extLst>
          </p:cNvPr>
          <p:cNvSpPr/>
          <p:nvPr/>
        </p:nvSpPr>
        <p:spPr>
          <a:xfrm>
            <a:off x="6502400" y="2286000"/>
            <a:ext cx="685800" cy="6858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B8E18D-F19E-3E75-8A17-3B61DE50E685}"/>
              </a:ext>
            </a:extLst>
          </p:cNvPr>
          <p:cNvSpPr txBox="1"/>
          <p:nvPr/>
        </p:nvSpPr>
        <p:spPr>
          <a:xfrm>
            <a:off x="6502400" y="2332166"/>
            <a:ext cx="6858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700" b="1">
                <a:solidFill>
                  <a:srgbClr val="FFFFFF"/>
                </a:solidFill>
                <a:latin typeface="Aptos Display" panose="020B0004020202020204" pitchFamily="34" charset="0"/>
              </a:rPr>
              <a:t>BS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155EDB-5AC8-E59E-8A24-E3533E2D9DAE}"/>
              </a:ext>
            </a:extLst>
          </p:cNvPr>
          <p:cNvSpPr txBox="1"/>
          <p:nvPr/>
        </p:nvSpPr>
        <p:spPr>
          <a:xfrm>
            <a:off x="6502400" y="3175000"/>
            <a:ext cx="20574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IN" b="1">
                <a:solidFill>
                  <a:srgbClr val="0A1A2F"/>
                </a:solidFill>
                <a:latin typeface="Aptos Display" panose="020B0004020202020204" pitchFamily="34" charset="0"/>
              </a:rPr>
              <a:t>Azure Blob Storage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B9EFEB-6487-B78F-F666-2EED8D578BE3}"/>
              </a:ext>
            </a:extLst>
          </p:cNvPr>
          <p:cNvSpPr txBox="1"/>
          <p:nvPr/>
        </p:nvSpPr>
        <p:spPr>
          <a:xfrm>
            <a:off x="6502400" y="3987800"/>
            <a:ext cx="2057400" cy="50783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100">
                <a:solidFill>
                  <a:srgbClr val="435567"/>
                </a:solidFill>
                <a:latin typeface="Aptos" panose="020B0004020202020204" pitchFamily="34" charset="0"/>
              </a:rPr>
              <a:t>Stores product images, uploads, invoices, exports, and other object data.</a:t>
            </a:r>
            <a:endParaRPr lang="en-IN" sz="11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7832D1-43FF-F353-AA50-CA149819C7F9}"/>
              </a:ext>
            </a:extLst>
          </p:cNvPr>
          <p:cNvSpPr txBox="1"/>
          <p:nvPr/>
        </p:nvSpPr>
        <p:spPr>
          <a:xfrm>
            <a:off x="6502400" y="5151566"/>
            <a:ext cx="20574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800" b="1">
                <a:solidFill>
                  <a:srgbClr val="10B981"/>
                </a:solidFill>
                <a:latin typeface="Aptos" panose="020B0004020202020204" pitchFamily="34" charset="0"/>
              </a:rPr>
              <a:t>AZURE PAAS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7B14C4B-5C7B-619B-633C-684140EADB59}"/>
              </a:ext>
            </a:extLst>
          </p:cNvPr>
          <p:cNvSpPr/>
          <p:nvPr/>
        </p:nvSpPr>
        <p:spPr>
          <a:xfrm>
            <a:off x="9067800" y="1981200"/>
            <a:ext cx="25654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63500" dist="38100" dir="5400000" rotWithShape="0">
              <a:srgbClr val="0F172A">
                <a:alpha val="1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F9056F-0E05-4839-7DB4-872B0948401C}"/>
              </a:ext>
            </a:extLst>
          </p:cNvPr>
          <p:cNvSpPr/>
          <p:nvPr/>
        </p:nvSpPr>
        <p:spPr>
          <a:xfrm>
            <a:off x="9067800" y="1981200"/>
            <a:ext cx="2565400" cy="889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C4F0F36-BAC0-9279-9EA6-2F8B294AAC03}"/>
              </a:ext>
            </a:extLst>
          </p:cNvPr>
          <p:cNvSpPr/>
          <p:nvPr/>
        </p:nvSpPr>
        <p:spPr>
          <a:xfrm>
            <a:off x="9321800" y="2286000"/>
            <a:ext cx="685800" cy="685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13E3C4-655E-C370-E34D-AAFA4BD96729}"/>
              </a:ext>
            </a:extLst>
          </p:cNvPr>
          <p:cNvSpPr txBox="1"/>
          <p:nvPr/>
        </p:nvSpPr>
        <p:spPr>
          <a:xfrm>
            <a:off x="9321800" y="2332166"/>
            <a:ext cx="6858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700" b="1">
                <a:solidFill>
                  <a:srgbClr val="FFFFFF"/>
                </a:solidFill>
                <a:latin typeface="Aptos Display" panose="020B0004020202020204" pitchFamily="34" charset="0"/>
              </a:rPr>
              <a:t>DB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8AC061-FD7B-EB2A-AC8C-14408F1CFFA2}"/>
              </a:ext>
            </a:extLst>
          </p:cNvPr>
          <p:cNvSpPr txBox="1"/>
          <p:nvPr/>
        </p:nvSpPr>
        <p:spPr>
          <a:xfrm>
            <a:off x="9321800" y="3175000"/>
            <a:ext cx="20574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IN" b="1">
                <a:solidFill>
                  <a:srgbClr val="0A1A2F"/>
                </a:solidFill>
                <a:latin typeface="Aptos Display" panose="020B0004020202020204" pitchFamily="34" charset="0"/>
              </a:rPr>
              <a:t>Cosmos DB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2A559E-5CD3-BDC6-CEA2-C8649412926B}"/>
              </a:ext>
            </a:extLst>
          </p:cNvPr>
          <p:cNvSpPr txBox="1"/>
          <p:nvPr/>
        </p:nvSpPr>
        <p:spPr>
          <a:xfrm>
            <a:off x="9321800" y="3987800"/>
            <a:ext cx="2057400" cy="50783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100">
                <a:solidFill>
                  <a:srgbClr val="435567"/>
                </a:solidFill>
                <a:latin typeface="Aptos" panose="020B0004020202020204" pitchFamily="34" charset="0"/>
              </a:rPr>
              <a:t>Provides a MongoDB-compatible database for products, carts, orders, and profiles.</a:t>
            </a:r>
            <a:endParaRPr lang="en-IN" sz="11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1B3A39-DE72-9784-2B93-0F375F2E495C}"/>
              </a:ext>
            </a:extLst>
          </p:cNvPr>
          <p:cNvSpPr txBox="1"/>
          <p:nvPr/>
        </p:nvSpPr>
        <p:spPr>
          <a:xfrm>
            <a:off x="9321800" y="5151566"/>
            <a:ext cx="20574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800" b="1">
                <a:solidFill>
                  <a:srgbClr val="F59E0B"/>
                </a:solidFill>
                <a:latin typeface="Aptos" panose="020B0004020202020204" pitchFamily="34" charset="0"/>
              </a:rPr>
              <a:t>AZURE PAAS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4A7F58-DD8A-9565-49EE-03FA70695413}"/>
              </a:ext>
            </a:extLst>
          </p:cNvPr>
          <p:cNvSpPr txBox="1"/>
          <p:nvPr/>
        </p:nvSpPr>
        <p:spPr>
          <a:xfrm>
            <a:off x="11328400" y="6459666"/>
            <a:ext cx="4318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IN" sz="900" b="1">
                <a:solidFill>
                  <a:srgbClr val="94A3B8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61173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D324E7-2DAB-CF69-C447-850EA399C64B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EB53F-2581-9DD5-5EFA-CE145FFA3170}"/>
              </a:ext>
            </a:extLst>
          </p:cNvPr>
          <p:cNvSpPr txBox="1"/>
          <p:nvPr/>
        </p:nvSpPr>
        <p:spPr>
          <a:xfrm>
            <a:off x="609600" y="350966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1000" b="1">
                <a:solidFill>
                  <a:srgbClr val="0078D4"/>
                </a:solidFill>
                <a:latin typeface="Aptos" panose="020B0004020202020204" pitchFamily="34" charset="0"/>
              </a:rPr>
              <a:t>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3A852-67D6-4642-6FF5-0B9689DC2CDF}"/>
              </a:ext>
            </a:extLst>
          </p:cNvPr>
          <p:cNvSpPr txBox="1"/>
          <p:nvPr/>
        </p:nvSpPr>
        <p:spPr>
          <a:xfrm>
            <a:off x="609600" y="744666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3000" b="1">
                <a:solidFill>
                  <a:srgbClr val="0A1A2F"/>
                </a:solidFill>
                <a:latin typeface="Aptos Display" panose="020B0004020202020204" pitchFamily="34" charset="0"/>
              </a:rPr>
              <a:t>Infrastructure as Code &amp; Identity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A8284-7466-0B00-F464-55F9088290D8}"/>
              </a:ext>
            </a:extLst>
          </p:cNvPr>
          <p:cNvSpPr txBox="1"/>
          <p:nvPr/>
        </p:nvSpPr>
        <p:spPr>
          <a:xfrm>
            <a:off x="609600" y="1341566"/>
            <a:ext cx="10160000" cy="20005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sz="1300">
                <a:solidFill>
                  <a:srgbClr val="435567"/>
                </a:solidFill>
                <a:latin typeface="Aptos" panose="020B0004020202020204" pitchFamily="34" charset="0"/>
              </a:rPr>
              <a:t>Repeatable Azure provisioning with centralized application access management.</a:t>
            </a:r>
            <a:endParaRPr lang="en-IN" sz="13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8637C9-76A8-E62D-B622-DC70F5605E2B}"/>
              </a:ext>
            </a:extLst>
          </p:cNvPr>
          <p:cNvSpPr/>
          <p:nvPr/>
        </p:nvSpPr>
        <p:spPr>
          <a:xfrm>
            <a:off x="609600" y="1981200"/>
            <a:ext cx="5308600" cy="383540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CBD5E1"/>
            </a:solidFill>
          </a:ln>
          <a:effectLst>
            <a:outerShdw blurRad="63500" dist="46361" dir="3315946" rotWithShape="0">
              <a:srgbClr val="0F172A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4A1431-CEF8-1A04-491B-98CD0FC91B8D}"/>
              </a:ext>
            </a:extLst>
          </p:cNvPr>
          <p:cNvSpPr/>
          <p:nvPr/>
        </p:nvSpPr>
        <p:spPr>
          <a:xfrm>
            <a:off x="609600" y="1981200"/>
            <a:ext cx="101600" cy="38354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155114-16A9-06FE-A458-B2E8D6BCE246}"/>
              </a:ext>
            </a:extLst>
          </p:cNvPr>
          <p:cNvSpPr/>
          <p:nvPr/>
        </p:nvSpPr>
        <p:spPr>
          <a:xfrm>
            <a:off x="1041400" y="2336800"/>
            <a:ext cx="736600" cy="736600"/>
          </a:xfrm>
          <a:prstGeom prst="ellipse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E51D93-708B-C78F-1FDD-256C215205B4}"/>
              </a:ext>
            </a:extLst>
          </p:cNvPr>
          <p:cNvSpPr txBox="1"/>
          <p:nvPr/>
        </p:nvSpPr>
        <p:spPr>
          <a:xfrm>
            <a:off x="1041400" y="2382966"/>
            <a:ext cx="7366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700" b="1">
                <a:solidFill>
                  <a:srgbClr val="FFFFFF"/>
                </a:solidFill>
                <a:latin typeface="Aptos Display" panose="020B0004020202020204" pitchFamily="34" charset="0"/>
              </a:rPr>
              <a:t>TF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7E6E35-6901-C83A-6E64-5FF90409787C}"/>
              </a:ext>
            </a:extLst>
          </p:cNvPr>
          <p:cNvSpPr txBox="1"/>
          <p:nvPr/>
        </p:nvSpPr>
        <p:spPr>
          <a:xfrm>
            <a:off x="2006600" y="2344866"/>
            <a:ext cx="3429000" cy="32316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2100" b="1">
                <a:solidFill>
                  <a:srgbClr val="0A1A2F"/>
                </a:solidFill>
                <a:latin typeface="Aptos Display" panose="020B0004020202020204" pitchFamily="34" charset="0"/>
              </a:rPr>
              <a:t>Terraform Provisioning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A9A4B4-72BA-4911-14F6-342ACB406E50}"/>
              </a:ext>
            </a:extLst>
          </p:cNvPr>
          <p:cNvSpPr txBox="1"/>
          <p:nvPr/>
        </p:nvSpPr>
        <p:spPr>
          <a:xfrm>
            <a:off x="2006600" y="2789366"/>
            <a:ext cx="31750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900" b="1">
                <a:solidFill>
                  <a:srgbClr val="7C3AED"/>
                </a:solidFill>
                <a:latin typeface="Aptos" panose="020B0004020202020204" pitchFamily="34" charset="0"/>
              </a:rPr>
              <a:t>INFRASTRUCTURE AS CODE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219B9F-CADD-6A9B-E5C8-A3544A9DD095}"/>
              </a:ext>
            </a:extLst>
          </p:cNvPr>
          <p:cNvSpPr/>
          <p:nvPr/>
        </p:nvSpPr>
        <p:spPr>
          <a:xfrm>
            <a:off x="1041400" y="3505200"/>
            <a:ext cx="304800" cy="304800"/>
          </a:xfrm>
          <a:prstGeom prst="ellipse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0A5BF3-2EDE-5A8C-8521-F67403CC8B12}"/>
              </a:ext>
            </a:extLst>
          </p:cNvPr>
          <p:cNvSpPr txBox="1"/>
          <p:nvPr/>
        </p:nvSpPr>
        <p:spPr>
          <a:xfrm>
            <a:off x="1041400" y="3551366"/>
            <a:ext cx="3048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269442-39E2-2548-A97F-60A006C615AA}"/>
              </a:ext>
            </a:extLst>
          </p:cNvPr>
          <p:cNvSpPr txBox="1"/>
          <p:nvPr/>
        </p:nvSpPr>
        <p:spPr>
          <a:xfrm>
            <a:off x="1524000" y="3500566"/>
            <a:ext cx="3810000" cy="21544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1400" b="1">
                <a:solidFill>
                  <a:srgbClr val="0A1A2F"/>
                </a:solidFill>
                <a:latin typeface="Aptos" panose="020B0004020202020204" pitchFamily="34" charset="0"/>
              </a:rPr>
              <a:t>Reusable Terraform modules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866D10-9A39-A0C4-E264-0CC36F6F1D51}"/>
              </a:ext>
            </a:extLst>
          </p:cNvPr>
          <p:cNvSpPr txBox="1"/>
          <p:nvPr/>
        </p:nvSpPr>
        <p:spPr>
          <a:xfrm>
            <a:off x="1524000" y="3810000"/>
            <a:ext cx="37084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000">
                <a:solidFill>
                  <a:srgbClr val="435567"/>
                </a:solidFill>
                <a:latin typeface="Aptos" panose="020B0004020202020204" pitchFamily="34" charset="0"/>
              </a:rPr>
              <a:t>Resources are organized into reusable, maintainable building blocks.</a:t>
            </a:r>
            <a:endParaRPr lang="en-IN" sz="10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93A8082-73F8-BDA7-28FE-80336A76DAB7}"/>
              </a:ext>
            </a:extLst>
          </p:cNvPr>
          <p:cNvSpPr/>
          <p:nvPr/>
        </p:nvSpPr>
        <p:spPr>
          <a:xfrm>
            <a:off x="1041400" y="4495800"/>
            <a:ext cx="304800" cy="304800"/>
          </a:xfrm>
          <a:prstGeom prst="ellipse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F15B55-75B5-362F-D49B-4F030C67AFED}"/>
              </a:ext>
            </a:extLst>
          </p:cNvPr>
          <p:cNvSpPr txBox="1"/>
          <p:nvPr/>
        </p:nvSpPr>
        <p:spPr>
          <a:xfrm>
            <a:off x="1041400" y="4541966"/>
            <a:ext cx="3048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D414BD-3BB2-6199-3D46-ACEFCD4F2106}"/>
              </a:ext>
            </a:extLst>
          </p:cNvPr>
          <p:cNvSpPr txBox="1"/>
          <p:nvPr/>
        </p:nvSpPr>
        <p:spPr>
          <a:xfrm>
            <a:off x="1524000" y="4491166"/>
            <a:ext cx="3810000" cy="21544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1400" b="1">
                <a:solidFill>
                  <a:srgbClr val="0A1A2F"/>
                </a:solidFill>
                <a:latin typeface="Aptos" panose="020B0004020202020204" pitchFamily="34" charset="0"/>
              </a:rPr>
              <a:t>Terraform workspaces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33CB33-36D8-CE62-BF98-55A5B126E391}"/>
              </a:ext>
            </a:extLst>
          </p:cNvPr>
          <p:cNvSpPr txBox="1"/>
          <p:nvPr/>
        </p:nvSpPr>
        <p:spPr>
          <a:xfrm>
            <a:off x="1524000" y="4800600"/>
            <a:ext cx="37084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000">
                <a:solidFill>
                  <a:srgbClr val="435567"/>
                </a:solidFill>
                <a:latin typeface="Aptos" panose="020B0004020202020204" pitchFamily="34" charset="0"/>
              </a:rPr>
              <a:t>Separate environments and state while using the same infrastructure code.</a:t>
            </a:r>
            <a:endParaRPr lang="en-IN" sz="10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8CB1D2C-C8DE-A401-A0A5-F51716203ED9}"/>
              </a:ext>
            </a:extLst>
          </p:cNvPr>
          <p:cNvSpPr/>
          <p:nvPr/>
        </p:nvSpPr>
        <p:spPr>
          <a:xfrm>
            <a:off x="6273800" y="1981200"/>
            <a:ext cx="5308600" cy="383540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CBD5E1"/>
            </a:solidFill>
          </a:ln>
          <a:effectLst>
            <a:outerShdw blurRad="63500" dist="46361" dir="3315946" rotWithShape="0">
              <a:srgbClr val="0F172A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8BE4FA-DD77-CF05-3C4B-64314A5A8940}"/>
              </a:ext>
            </a:extLst>
          </p:cNvPr>
          <p:cNvSpPr/>
          <p:nvPr/>
        </p:nvSpPr>
        <p:spPr>
          <a:xfrm>
            <a:off x="6273800" y="1981200"/>
            <a:ext cx="101600" cy="38354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377303-15F2-C7D8-F325-78FA03C8E408}"/>
              </a:ext>
            </a:extLst>
          </p:cNvPr>
          <p:cNvSpPr/>
          <p:nvPr/>
        </p:nvSpPr>
        <p:spPr>
          <a:xfrm>
            <a:off x="6705600" y="2336800"/>
            <a:ext cx="736600" cy="7366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8165F6-8F82-D110-E6E6-50B566309099}"/>
              </a:ext>
            </a:extLst>
          </p:cNvPr>
          <p:cNvSpPr txBox="1"/>
          <p:nvPr/>
        </p:nvSpPr>
        <p:spPr>
          <a:xfrm>
            <a:off x="6705600" y="2382966"/>
            <a:ext cx="7366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700" b="1">
                <a:solidFill>
                  <a:srgbClr val="FFFFFF"/>
                </a:solidFill>
                <a:latin typeface="Aptos Display" panose="020B0004020202020204" pitchFamily="34" charset="0"/>
              </a:rPr>
              <a:t>ID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FA1A05-D03A-3FB6-F6AF-EDB814E879C5}"/>
              </a:ext>
            </a:extLst>
          </p:cNvPr>
          <p:cNvSpPr txBox="1"/>
          <p:nvPr/>
        </p:nvSpPr>
        <p:spPr>
          <a:xfrm>
            <a:off x="7670800" y="2344866"/>
            <a:ext cx="3429000" cy="32316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2100" b="1">
                <a:solidFill>
                  <a:srgbClr val="0A1A2F"/>
                </a:solidFill>
                <a:latin typeface="Aptos Display" panose="020B0004020202020204" pitchFamily="34" charset="0"/>
              </a:rPr>
              <a:t>Microsoft Entra 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7EA2FE-8E3F-5408-0FC8-ABF8060864C3}"/>
              </a:ext>
            </a:extLst>
          </p:cNvPr>
          <p:cNvSpPr txBox="1"/>
          <p:nvPr/>
        </p:nvSpPr>
        <p:spPr>
          <a:xfrm>
            <a:off x="7670800" y="2789366"/>
            <a:ext cx="31750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900" b="1">
                <a:solidFill>
                  <a:srgbClr val="0078D4"/>
                </a:solidFill>
                <a:latin typeface="Aptos" panose="020B0004020202020204" pitchFamily="34" charset="0"/>
              </a:rPr>
              <a:t>IDENTITY &amp; ACCESS MANAGEMENT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5C23B32-CA10-3975-C5BA-72FD5FBA9CF5}"/>
              </a:ext>
            </a:extLst>
          </p:cNvPr>
          <p:cNvSpPr/>
          <p:nvPr/>
        </p:nvSpPr>
        <p:spPr>
          <a:xfrm>
            <a:off x="6705600" y="3505200"/>
            <a:ext cx="304800" cy="3048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F05EFE-2CFE-776F-9524-D73D1903786D}"/>
              </a:ext>
            </a:extLst>
          </p:cNvPr>
          <p:cNvSpPr txBox="1"/>
          <p:nvPr/>
        </p:nvSpPr>
        <p:spPr>
          <a:xfrm>
            <a:off x="6705600" y="3551366"/>
            <a:ext cx="3048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EA7EC6-FF8C-8DC6-BB88-116406B040F3}"/>
              </a:ext>
            </a:extLst>
          </p:cNvPr>
          <p:cNvSpPr txBox="1"/>
          <p:nvPr/>
        </p:nvSpPr>
        <p:spPr>
          <a:xfrm>
            <a:off x="7188200" y="3500566"/>
            <a:ext cx="3810000" cy="21544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1400" b="1">
                <a:solidFill>
                  <a:srgbClr val="0A1A2F"/>
                </a:solidFill>
                <a:latin typeface="Aptos" panose="020B0004020202020204" pitchFamily="34" charset="0"/>
              </a:rPr>
              <a:t>Application authentication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BDA394-717B-236B-06B6-125680C82C3B}"/>
              </a:ext>
            </a:extLst>
          </p:cNvPr>
          <p:cNvSpPr txBox="1"/>
          <p:nvPr/>
        </p:nvSpPr>
        <p:spPr>
          <a:xfrm>
            <a:off x="7188200" y="3810000"/>
            <a:ext cx="37084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000">
                <a:solidFill>
                  <a:srgbClr val="435567"/>
                </a:solidFill>
                <a:latin typeface="Aptos" panose="020B0004020202020204" pitchFamily="34" charset="0"/>
              </a:rPr>
              <a:t>Users sign in through Microsoft Entra ID and App Service Authentication.</a:t>
            </a:r>
            <a:endParaRPr lang="en-IN" sz="10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9967C19-123D-A5F7-6A9D-B0004333CEB7}"/>
              </a:ext>
            </a:extLst>
          </p:cNvPr>
          <p:cNvSpPr/>
          <p:nvPr/>
        </p:nvSpPr>
        <p:spPr>
          <a:xfrm>
            <a:off x="6705600" y="4495800"/>
            <a:ext cx="304800" cy="3048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C2788B-3768-7547-9BC0-C10E7BA7219D}"/>
              </a:ext>
            </a:extLst>
          </p:cNvPr>
          <p:cNvSpPr txBox="1"/>
          <p:nvPr/>
        </p:nvSpPr>
        <p:spPr>
          <a:xfrm>
            <a:off x="6705600" y="4541966"/>
            <a:ext cx="3048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C66EDA-99D5-D2EB-424D-D28C74E71D8C}"/>
              </a:ext>
            </a:extLst>
          </p:cNvPr>
          <p:cNvSpPr txBox="1"/>
          <p:nvPr/>
        </p:nvSpPr>
        <p:spPr>
          <a:xfrm>
            <a:off x="7188200" y="4491166"/>
            <a:ext cx="3810000" cy="21544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1400" b="1">
                <a:solidFill>
                  <a:srgbClr val="0A1A2F"/>
                </a:solidFill>
                <a:latin typeface="Aptos" panose="020B0004020202020204" pitchFamily="34" charset="0"/>
              </a:rPr>
              <a:t>Centralized IAM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36BD2B-E9DE-01A8-642C-117762302F8F}"/>
              </a:ext>
            </a:extLst>
          </p:cNvPr>
          <p:cNvSpPr txBox="1"/>
          <p:nvPr/>
        </p:nvSpPr>
        <p:spPr>
          <a:xfrm>
            <a:off x="7188200" y="4800600"/>
            <a:ext cx="37084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000">
                <a:solidFill>
                  <a:srgbClr val="435567"/>
                </a:solidFill>
                <a:latin typeface="Aptos" panose="020B0004020202020204" pitchFamily="34" charset="0"/>
              </a:rPr>
              <a:t>Identity and access policies are managed centrally without storing user passwords.</a:t>
            </a:r>
            <a:endParaRPr lang="en-IN" sz="10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F6DAF6-A1EB-BF0C-5BF4-CB0815E8E12E}"/>
              </a:ext>
            </a:extLst>
          </p:cNvPr>
          <p:cNvSpPr txBox="1"/>
          <p:nvPr/>
        </p:nvSpPr>
        <p:spPr>
          <a:xfrm>
            <a:off x="11328400" y="6459666"/>
            <a:ext cx="4318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IN" sz="900" b="1">
                <a:solidFill>
                  <a:srgbClr val="94A3B8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6505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B5228-C307-326E-97A8-4766A4773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398948-7C54-B7AE-F4BE-B71C015E2E3E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D2046-79D2-0E4E-42C0-7675CEB73604}"/>
              </a:ext>
            </a:extLst>
          </p:cNvPr>
          <p:cNvSpPr txBox="1"/>
          <p:nvPr/>
        </p:nvSpPr>
        <p:spPr>
          <a:xfrm>
            <a:off x="609600" y="350966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1000" b="1">
                <a:solidFill>
                  <a:srgbClr val="0078D4"/>
                </a:solidFill>
                <a:latin typeface="Aptos" panose="020B0004020202020204" pitchFamily="34" charset="0"/>
              </a:rPr>
              <a:t>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03B26-EB61-92DC-21BA-0B456684D240}"/>
              </a:ext>
            </a:extLst>
          </p:cNvPr>
          <p:cNvSpPr txBox="1"/>
          <p:nvPr/>
        </p:nvSpPr>
        <p:spPr>
          <a:xfrm>
            <a:off x="609600" y="744666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3000" b="1" dirty="0">
                <a:solidFill>
                  <a:srgbClr val="0A1A2F"/>
                </a:solidFill>
                <a:latin typeface="Aptos Display" panose="020B0004020202020204" pitchFamily="34" charset="0"/>
              </a:rPr>
              <a:t>Terraform Structure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94A5BF-38F6-EAA8-A5B7-B42B9E6A1376}"/>
              </a:ext>
            </a:extLst>
          </p:cNvPr>
          <p:cNvSpPr txBox="1"/>
          <p:nvPr/>
        </p:nvSpPr>
        <p:spPr>
          <a:xfrm>
            <a:off x="11328400" y="6459666"/>
            <a:ext cx="4318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IN" sz="900" b="1">
                <a:solidFill>
                  <a:srgbClr val="94A3B8"/>
                </a:solidFill>
                <a:latin typeface="Aptos" panose="020B0004020202020204" pitchFamily="34" charset="0"/>
              </a:rPr>
              <a:t>03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0D78ADB-E8FD-2040-244D-3E82D9E50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671" y="1300776"/>
            <a:ext cx="3080657" cy="529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0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D84869-E05C-AE9E-7953-4932C0AC1DA1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2D94C-AFE3-2B7D-F69E-1CFEC01B7883}"/>
              </a:ext>
            </a:extLst>
          </p:cNvPr>
          <p:cNvSpPr txBox="1"/>
          <p:nvPr/>
        </p:nvSpPr>
        <p:spPr>
          <a:xfrm>
            <a:off x="283028" y="320123"/>
            <a:ext cx="8636000" cy="46166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sz="3000" b="1" dirty="0">
                <a:solidFill>
                  <a:srgbClr val="0A1A2F"/>
                </a:solidFill>
                <a:latin typeface="Aptos Display" panose="020B0004020202020204" pitchFamily="34" charset="0"/>
              </a:rPr>
              <a:t>Cloud Architecture</a:t>
            </a:r>
            <a:endParaRPr lang="en-IN" sz="3000" b="1" dirty="0">
              <a:solidFill>
                <a:srgbClr val="0A1A2F"/>
              </a:solidFill>
              <a:latin typeface="Aptos Display" panose="020B000402020202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BB986EA-B88B-BF56-6179-709D84BCA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9113"/>
            <a:ext cx="12192000" cy="531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21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8D31C89-657B-07E7-2460-E4A97319F8C4}"/>
              </a:ext>
            </a:extLst>
          </p:cNvPr>
          <p:cNvSpPr/>
          <p:nvPr/>
        </p:nvSpPr>
        <p:spPr>
          <a:xfrm>
            <a:off x="-1524000" y="3556000"/>
            <a:ext cx="4191000" cy="41910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65D0113-C163-6867-5D0B-02FC4CA4A9CA}"/>
              </a:ext>
            </a:extLst>
          </p:cNvPr>
          <p:cNvSpPr/>
          <p:nvPr/>
        </p:nvSpPr>
        <p:spPr>
          <a:xfrm>
            <a:off x="-698500" y="4318000"/>
            <a:ext cx="2603500" cy="2603500"/>
          </a:xfrm>
          <a:prstGeom prst="ellipse">
            <a:avLst/>
          </a:prstGeom>
          <a:solidFill>
            <a:srgbClr val="122B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BEE55D7-94E1-CE55-9C15-EBCF4C485ED0}"/>
              </a:ext>
            </a:extLst>
          </p:cNvPr>
          <p:cNvSpPr/>
          <p:nvPr/>
        </p:nvSpPr>
        <p:spPr>
          <a:xfrm>
            <a:off x="10033000" y="-1397000"/>
            <a:ext cx="3556000" cy="3556000"/>
          </a:xfrm>
          <a:prstGeom prst="ellipse">
            <a:avLst/>
          </a:prstGeom>
          <a:solidFill>
            <a:srgbClr val="30C6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6F1B9C3-B0A3-9DB8-19D4-1AFF0F6EF67E}"/>
              </a:ext>
            </a:extLst>
          </p:cNvPr>
          <p:cNvSpPr/>
          <p:nvPr/>
        </p:nvSpPr>
        <p:spPr>
          <a:xfrm>
            <a:off x="10668000" y="-698500"/>
            <a:ext cx="2286000" cy="22860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D294E-1928-94B4-5396-59DC747613C0}"/>
              </a:ext>
            </a:extLst>
          </p:cNvPr>
          <p:cNvSpPr txBox="1"/>
          <p:nvPr/>
        </p:nvSpPr>
        <p:spPr>
          <a:xfrm>
            <a:off x="1651000" y="2103566"/>
            <a:ext cx="8890000" cy="73866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4800" b="1">
                <a:solidFill>
                  <a:srgbClr val="FFFFFF"/>
                </a:solidFill>
                <a:latin typeface="Aptos Display" panose="020B0004020202020204" pitchFamily="34" charset="0"/>
              </a:rPr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6CDED4-26D5-F6BC-7406-66D0D512EF70}"/>
              </a:ext>
            </a:extLst>
          </p:cNvPr>
          <p:cNvSpPr/>
          <p:nvPr/>
        </p:nvSpPr>
        <p:spPr>
          <a:xfrm>
            <a:off x="5384800" y="3175000"/>
            <a:ext cx="1422400" cy="508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58DB0-5D99-F109-80DB-536083D04E30}"/>
              </a:ext>
            </a:extLst>
          </p:cNvPr>
          <p:cNvSpPr txBox="1"/>
          <p:nvPr/>
        </p:nvSpPr>
        <p:spPr>
          <a:xfrm>
            <a:off x="11328400" y="6459666"/>
            <a:ext cx="4318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IN" sz="900" b="1">
                <a:solidFill>
                  <a:srgbClr val="94A3B8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6211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221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Ahamed Aasik Afridi S</dc:creator>
  <cp:lastModifiedBy>Ahamed Aasik Afridi S</cp:lastModifiedBy>
  <cp:revision>3</cp:revision>
  <dcterms:created xsi:type="dcterms:W3CDTF">2026-06-10T04:18:55Z</dcterms:created>
  <dcterms:modified xsi:type="dcterms:W3CDTF">2026-06-10T07:19:58Z</dcterms:modified>
</cp:coreProperties>
</file>